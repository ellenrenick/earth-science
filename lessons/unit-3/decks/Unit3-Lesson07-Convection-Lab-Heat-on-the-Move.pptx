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A GLANCE: Two days. Day 45: convection lab and lab-to-Earth model. Day 46: textbook reading + questions, then CFA 3.5.
MATERIALS: Per group: clear plastic shoebox or loaf-pan-size container; 2 small cups (one hot tap water, one ice water) to set under the ends; red and blue food coloring; dropper or pipette; paper towels. Hot water from a kettle or tap (no boiling water at tables). Textbooks (Module 13, Lesson 4, pp. 362-364); Chromebooks.
AGENDA (minutes):
Day 45: 5: Do Now: hot air is less dense, so it rises.
10: Set up; teacher demo of dropping coloring at the bottom slowly.
15: Observe and draw at 1-minute intervals.
15: Debrief; complete the lab-to-Earth table; draw the mantle convection loop.
5: Exit: show the loop with your finger in the air.
Day 46: 5: Review the loop: heated, rises, sideways, cools, sinks.
25: Reading pp. 362-364 with questions.
15: CFA 3.5 on Canvas.
5: Preview Lesson 8: you will build a full model.
Teacher page: https://kernhigh.instructure.com/courses/300209/pages/teacher-unit-3-lesson-7-days-45-46-convection-lab-heat-on-the-move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KEY:
Lab-to-Earth table: hot cup = the core (heat source); water = the mantle; ice cup / cool top = the cooler region near the crust.
Reading: (1) A loop where heated material rises, cools, and sinks. (2) Earth's internal heat: heat from formation and radioactive decay, flowing out from the core. (3) The slowly moving mantle drags or pushes the plates, so they move a few cm per year.
CFA 3.5 key: B, A, C, D, A.
TEACHING NOTES:
- Red should rise over the hot cup, spread across the top, and drift down at the cold end; blue should stay low and spread along the bottom toward the hot side. Results improve if the water sits still first.
- Stress the limitation: the lab uses fast-moving liquid; the mantle is solid rock moving a few cm per year (about as fast as fingernails grow).
- Mantle convection is one driver of plate motion (with slab pull and ridge push in the textbook). Keep the focus on convection for this unit; Unit 4 picks up plate motion.
SUPPORTS: Assign roles (dropper, timer, artist, reporter). Provide a partially drawn convection loop for students who need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7-days-45-46-convection-lab-heat-on-the-mov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7-days-45-46-convection-lab-heat-on-the-mov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7-days-45-46-convection-lab-heat-on-the-mov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7-days-45-46-convection-lab-heat-on-the-mov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7-days-45-46-convection-lab-heat-on-the-mov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7-days-45-46-convection-lab-heat-on-the-mov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7-days-45-46-convection-lab-heat-on-the-mov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7-days-45-46-convection-lab-heat-on-the-mov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1051560"/>
            <a:ext cx="4754880" cy="475488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69657" y="1384402"/>
            <a:ext cx="4089197" cy="4089197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25535" y="2240280"/>
            <a:ext cx="2377440" cy="23774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43670" y="2858414"/>
            <a:ext cx="1141171" cy="114117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7 · DAYS 45-46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Convection Lab: Heat on the Move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question: </a:t>
            </a:r>
            <a:pPr indent="0" marL="0">
              <a:buNone/>
            </a:pPr>
            <a:r>
              <a:rPr lang="en-US" sz="1800" i="1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inside Earth, and why does it move?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120640"/>
            <a:ext cx="3291840" cy="594360"/>
          </a:xfrm>
          <a:prstGeom prst="roundRect">
            <a:avLst>
              <a:gd name="adj" fmla="val 15385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120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setup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7 · Days 45-46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789401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L7 Convection Lab. Add it to your table of contents.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question, prediction, a side-view drawing of the container with arrows showing how the color moved, and observations.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draw the mantle as a ring around the core. Add one convection loop with arrows: rise, sideways, cool, sink.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46: reading questions (Slide 5).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808415" y="1463040"/>
            <a:ext cx="2834640" cy="3291840"/>
          </a:xfrm>
          <a:prstGeom prst="roundRect">
            <a:avLst>
              <a:gd name="adj" fmla="val 387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37015" y="169164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 is your answer sheet.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date, and a table of contents entry on every page. Keep it neat; your teacher will check it.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Do Now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7 · Days 45-46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94415" cy="4480560"/>
          </a:xfrm>
          <a:prstGeom prst="roundRect">
            <a:avLst>
              <a:gd name="adj" fmla="val 306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83080"/>
            <a:ext cx="1188720" cy="11887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1783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87169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3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air balloons rise. Why? What do you think happens to hot rock deep in the mantle?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Learning target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7 · Days 45-46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31620"/>
            <a:ext cx="868680" cy="8686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5316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1325880"/>
            <a:ext cx="9311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model how mantle convection moves heat and cycles rock between Earth's interior and surface.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Convection lab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7 · Days 45-46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4845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pPr indent="0" marL="0">
              <a:buNone/>
            </a:pPr>
            <a:r>
              <a:rPr lang="en-US" sz="2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How does heat make a liquid move?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clear container with room-temperature water. Let it sit still for 1 minute.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2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so one end sits over a cup of</a:t>
            </a:r>
            <a:pPr indent="0" marL="0">
              <a:buNone/>
            </a:pPr>
            <a:r>
              <a:rPr lang="en-US" sz="23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hot water</a:t>
            </a:r>
            <a:pPr indent="0" marL="0">
              <a:buNone/>
            </a:pPr>
            <a:r>
              <a:rPr lang="en-US" sz="2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other end over a cup of</a:t>
            </a:r>
            <a:pPr indent="0" marL="0">
              <a:buNone/>
            </a:pPr>
            <a:r>
              <a:rPr lang="en-US" sz="23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ice water</a:t>
            </a:r>
            <a:pPr indent="0" marL="0">
              <a:buNone/>
            </a:pPr>
            <a:r>
              <a:rPr lang="en-US" sz="2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2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dropper, put 2 drops of</a:t>
            </a:r>
            <a:pPr indent="0" marL="0">
              <a:buNone/>
            </a:pPr>
            <a:r>
              <a:rPr lang="en-US" sz="23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</a:t>
            </a:r>
            <a:pPr indent="0" marL="0">
              <a:buNone/>
            </a:pPr>
            <a:r>
              <a:rPr lang="en-US" sz="2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food coloring at the bottom over the hot cup, and 2 drops of</a:t>
            </a:r>
            <a:pPr indent="0" marL="0">
              <a:buNone/>
            </a:pPr>
            <a:r>
              <a:rPr lang="en-US" sz="23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blue</a:t>
            </a:r>
            <a:pPr indent="0" marL="0">
              <a:buNone/>
            </a:pPr>
            <a:r>
              <a:rPr lang="en-US" sz="2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bottom over the ice cup.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2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5 minutes without bumping the table. Draw what you see every minute.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</a:t>
            </a:r>
            <a:pPr indent="0" marL="0">
              <a:buNone/>
            </a:pPr>
            <a:r>
              <a:rPr lang="en-US" sz="2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Hot water can burn. Don't move the cups once they are set.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Make sense of it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7 · Days 45-46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4206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pPr indent="0" marL="0"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water is</a:t>
            </a:r>
            <a:pPr indent="0" marL="0">
              <a:buNone/>
            </a:pPr>
            <a:r>
              <a:rPr lang="en-US" sz="20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less dense</a:t>
            </a:r>
            <a:pPr indent="0" marL="0"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it</a:t>
            </a:r>
            <a:pPr indent="0" marL="0">
              <a:buNone/>
            </a:pPr>
            <a:r>
              <a:rPr lang="en-US" sz="20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rises</a:t>
            </a:r>
            <a:pPr indent="0" marL="0"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At the top it moves sideways and</a:t>
            </a:r>
            <a:pPr indent="0" marL="0">
              <a:buNone/>
            </a:pPr>
            <a:r>
              <a:rPr lang="en-US" sz="20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cools</a:t>
            </a:r>
            <a:pPr indent="0" marL="0"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buNone/>
            </a:pPr>
            <a:r>
              <a:rPr lang="en-US" sz="20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Cool</a:t>
            </a:r>
            <a:pPr indent="0" marL="0"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water is</a:t>
            </a:r>
            <a:pPr indent="0" marL="0">
              <a:buNone/>
            </a:pPr>
            <a:r>
              <a:rPr lang="en-US" sz="20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denser</a:t>
            </a:r>
            <a:pPr indent="0" marL="0"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it</a:t>
            </a:r>
            <a:pPr indent="0" marL="0">
              <a:buNone/>
            </a:pPr>
            <a:r>
              <a:rPr lang="en-US" sz="20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sinks</a:t>
            </a:r>
            <a:pPr indent="0" marL="0"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loop is a</a:t>
            </a:r>
            <a:pPr indent="0" marL="0">
              <a:buNone/>
            </a:pPr>
            <a:r>
              <a:rPr lang="en-US" sz="20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convection current</a:t>
            </a:r>
            <a:pPr indent="0" marL="0"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mantle does the same thing, but much, much slower (a few centimeters per year) because it is solid rock that flows like putty.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234440"/>
          <a:ext cx="6522415" cy="914400"/>
        </p:xfrm>
        <a:graphic>
          <a:graphicData uri="http://schemas.openxmlformats.org/drawingml/2006/table">
            <a:tbl>
              <a:tblPr/>
              <a:tblGrid>
                <a:gridCol w="3261208"/>
                <a:gridCol w="3261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lab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Earth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water cup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in the container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 water cup / cool top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Day 46: Reading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7 · Days 45-46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254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Module 13, Lesson 4: Causes of Plate Motions (pp. 362-364)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Answer in your notebook: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convection current?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energy for mantle convection come from?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mantle convection affect the plates of the crust?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2011680"/>
            <a:ext cx="2377440" cy="237744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32036" y="2178101"/>
            <a:ext cx="2044598" cy="204459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2606040"/>
            <a:ext cx="1188720" cy="11887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69042" y="2915107"/>
            <a:ext cx="570586" cy="570586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you know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CFA 3.5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Unit 3 CFA 3.5: Model mantle convection (5 questions). If you score below a B, a review page for this target will open for you.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Lesson 7: Convection Lab: Heat on the Move</dc:title>
  <dc:subject>PptxGenJS Presentation</dc:subject>
  <dc:creator>PptxGenJS</dc:creator>
  <cp:lastModifiedBy>PptxGenJS</cp:lastModifiedBy>
  <cp:revision>1</cp:revision>
  <dcterms:created xsi:type="dcterms:W3CDTF">2026-10-01T20:16:15Z</dcterms:created>
  <dcterms:modified xsi:type="dcterms:W3CDTF">2026-10-01T20:16:15Z</dcterms:modified>
</cp:coreProperties>
</file>