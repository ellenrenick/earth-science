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GLANCE: One day. Hand-rubbing hook, two heat sources, card sort, then CFA 3.4.
MATERIALS: Card sort sets (print the 8 items from Slide 4 and cut, 1 set per pair) or students sort in their notebooks; Chromebooks for CFA 3.4.
AGENDA (minutes):
5: Do Now: friction turns motion energy into heat.
15: Mini-lesson on the two sources (Slide 3). Act out accretion: students 'collide' fists gently to show motion becoming heat.
12: Card sort in pairs; whole-class check.
5: Exit question in notebooks.
13: CFA 3.4 on Canvas.
Teacher page: https://kernhigh.instructure.com/courses/300209/pages/teacher-unit-3-lesson-6-day-44-where-does-earths-heat-come-from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Card sort: Real sources: rocks crashing together when Earth formed; uranium breaking down; iron sinking to the center of early Earth; potassium breaking down. NOT sources: sunlight; volcanoes; earthquakes; ocean tides.
Exit: The sun only heats the surface. The heat inside comes from heat left over from Earth's formation and from radioactive decay of elements like uranium.
CFA 3.4 key: C, A, B, True, D.
TEACHING NOTES:
- Radioactive decay supplies roughly half of Earth's heat flow today; the rest is primordial heat from accretion and core formation. (Exact split is still debated; 'about half' is a safe classroom statement.)
- Volcanoes and earthquakes are effects of internal heat, not sources. The sun drives surface processes (weather, water cycle) but not the interior.
- Bridge to Lesson 7: heat flowing outward is what drives mantle convection.
SUPPORTS: Picture icons on cards. Sentence frame for the exit: 'The sun only heats ______. The heat inside Earth comes from ______ and ______.'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kernhigh.instructure.com/courses/300209/pages/unit-3-lesson-6-day-44-where-does-earths-heat-come-fr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7436815" y="1051560"/>
            <a:ext cx="4754880" cy="4754880"/>
          </a:xfrm>
          <a:prstGeom prst="ellipse">
            <a:avLst/>
          </a:prstGeom>
          <a:solidFill>
            <a:srgbClr val="57534E"/>
          </a:solidFill>
          <a:ln w="12700">
            <a:solidFill>
              <a:srgbClr val="57534E"/>
            </a:solidFill>
            <a:prstDash val="solid"/>
          </a:ln>
        </p:spPr>
      </p:sp>
      <p:sp>
        <p:nvSpPr>
          <p:cNvPr id="3" name="Shape 1"/>
          <p:cNvSpPr/>
          <p:nvPr/>
        </p:nvSpPr>
        <p:spPr>
          <a:xfrm>
            <a:off x="7769657" y="1384402"/>
            <a:ext cx="4089197" cy="4089197"/>
          </a:xfrm>
          <a:prstGeom prst="ellipse">
            <a:avLst/>
          </a:prstGeom>
          <a:solidFill>
            <a:srgbClr val="D97706"/>
          </a:solidFill>
          <a:ln w="12700">
            <a:solidFill>
              <a:srgbClr val="D97706"/>
            </a:solidFill>
            <a:prstDash val="solid"/>
          </a:ln>
        </p:spPr>
      </p:sp>
      <p:sp>
        <p:nvSpPr>
          <p:cNvPr id="4" name="Shape 2"/>
          <p:cNvSpPr/>
          <p:nvPr/>
        </p:nvSpPr>
        <p:spPr>
          <a:xfrm>
            <a:off x="8625535" y="2240280"/>
            <a:ext cx="2377440" cy="2377440"/>
          </a:xfrm>
          <a:prstGeom prst="ellipse">
            <a:avLst/>
          </a:prstGeom>
          <a:solidFill>
            <a:srgbClr val="EA580C"/>
          </a:solidFill>
          <a:ln w="12700">
            <a:solidFill>
              <a:srgbClr val="EA580C"/>
            </a:solidFill>
            <a:prstDash val="solid"/>
          </a:ln>
        </p:spPr>
      </p:sp>
      <p:sp>
        <p:nvSpPr>
          <p:cNvPr id="5" name="Shape 3"/>
          <p:cNvSpPr/>
          <p:nvPr/>
        </p:nvSpPr>
        <p:spPr>
          <a:xfrm>
            <a:off x="9243670" y="2858414"/>
            <a:ext cx="1141171" cy="1141171"/>
          </a:xfrm>
          <a:prstGeom prst="ellipse">
            <a:avLst/>
          </a:prstGeom>
          <a:solidFill>
            <a:srgbClr val="FDE68A"/>
          </a:solidFill>
          <a:ln w="12700">
            <a:solidFill>
              <a:srgbClr val="FDE68A"/>
            </a:solidFill>
            <a:prstDash val="solid"/>
          </a:ln>
        </p:spPr>
      </p:sp>
      <p:sp>
        <p:nvSpPr>
          <p:cNvPr id="6" name="Text 4"/>
          <p:cNvSpPr txBox="1"/>
          <p:nvPr/>
        </p:nvSpPr>
        <p:spPr>
          <a:xfrm>
            <a:off x="548640" y="1188720"/>
            <a:ext cx="6583680" cy="457200"/>
          </a:xfrm>
          <a:prstGeom prst="rect">
            <a:avLst/>
          </a:prstGeom>
          <a:noFill/>
          <a:ln/>
        </p:spPr>
        <p:txBody>
          <a:bodyPr wrap="square" lIns="0" tIns="0" rIns="0" bIns="0" rtlCol="0" anchor="ctr"/>
          <a:lstStyle/>
          <a:p>
            <a:pPr indent="0" marL="0">
              <a:buNone/>
            </a:pPr>
            <a:r>
              <a:rPr lang="en-US" sz="1600" b="1" spc="300" kern="0" dirty="0">
                <a:solidFill>
                  <a:srgbClr val="D97706"/>
                </a:solidFill>
                <a:latin typeface="Calibri" pitchFamily="34" charset="0"/>
                <a:ea typeface="Calibri" pitchFamily="34" charset="-122"/>
                <a:cs typeface="Calibri" pitchFamily="34" charset="-120"/>
              </a:rPr>
              <a:t>UNIT 3 · LESSON 6 · DAY 44</a:t>
            </a:r>
            <a:endParaRPr lang="en-US" sz="1600" dirty="0"/>
          </a:p>
        </p:txBody>
      </p:sp>
      <p:sp>
        <p:nvSpPr>
          <p:cNvPr id="7" name="Text 5"/>
          <p:cNvSpPr txBox="1"/>
          <p:nvPr/>
        </p:nvSpPr>
        <p:spPr>
          <a:xfrm>
            <a:off x="548640" y="1737360"/>
            <a:ext cx="6583680" cy="20116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Where Does Earth's Heat Come From?</a:t>
            </a:r>
            <a:endParaRPr lang="en-US" sz="4800" dirty="0"/>
          </a:p>
        </p:txBody>
      </p:sp>
      <p:sp>
        <p:nvSpPr>
          <p:cNvPr id="8" name="Text 6"/>
          <p:cNvSpPr txBox="1"/>
          <p:nvPr/>
        </p:nvSpPr>
        <p:spPr>
          <a:xfrm>
            <a:off x="548640" y="4023360"/>
            <a:ext cx="6583680" cy="822960"/>
          </a:xfrm>
          <a:prstGeom prst="rect">
            <a:avLst/>
          </a:prstGeom>
          <a:noFill/>
          <a:ln/>
        </p:spPr>
        <p:txBody>
          <a:bodyPr wrap="square" lIns="0" tIns="0" rIns="0" bIns="0" rtlCol="0" anchor="t"/>
          <a:lstStyle/>
          <a:p>
            <a:pPr indent="0" marL="0">
              <a:buNone/>
            </a:pPr>
            <a:r>
              <a:rPr lang="en-US" sz="1800" b="1" dirty="0">
                <a:solidFill>
                  <a:srgbClr val="E7E5E4"/>
                </a:solidFill>
                <a:latin typeface="Calibri" pitchFamily="34" charset="0"/>
                <a:ea typeface="Calibri" pitchFamily="34" charset="-122"/>
                <a:cs typeface="Calibri" pitchFamily="34" charset="-120"/>
              </a:rPr>
              <a:t>Driving question: </a:t>
            </a:r>
            <a:pPr indent="0" marL="0">
              <a:buNone/>
            </a:pPr>
            <a:r>
              <a:rPr lang="en-US" sz="1800" i="1" dirty="0">
                <a:solidFill>
                  <a:srgbClr val="E7E5E4"/>
                </a:solidFill>
                <a:latin typeface="Calibri" pitchFamily="34" charset="0"/>
                <a:ea typeface="Calibri" pitchFamily="34" charset="-122"/>
                <a:cs typeface="Calibri" pitchFamily="34" charset="-120"/>
              </a:rPr>
              <a:t>What is inside Earth, and why does it move?</a:t>
            </a:r>
            <a:endParaRPr lang="en-US" sz="1800" dirty="0"/>
          </a:p>
        </p:txBody>
      </p:sp>
      <p:sp>
        <p:nvSpPr>
          <p:cNvPr id="9" name="Shape 7"/>
          <p:cNvSpPr/>
          <p:nvPr/>
        </p:nvSpPr>
        <p:spPr>
          <a:xfrm>
            <a:off x="548640" y="5120640"/>
            <a:ext cx="3291840" cy="594360"/>
          </a:xfrm>
          <a:prstGeom prst="roundRect">
            <a:avLst>
              <a:gd name="adj" fmla="val 15385"/>
            </a:avLst>
          </a:prstGeom>
          <a:solidFill>
            <a:srgbClr val="C2410C"/>
          </a:solidFill>
          <a:ln w="12700">
            <a:solidFill>
              <a:srgbClr val="C2410C"/>
            </a:solidFill>
            <a:prstDash val="solid"/>
          </a:ln>
        </p:spPr>
      </p:sp>
      <p:sp>
        <p:nvSpPr>
          <p:cNvPr id="10" name="Text 8"/>
          <p:cNvSpPr txBox="1"/>
          <p:nvPr/>
        </p:nvSpPr>
        <p:spPr>
          <a:xfrm>
            <a:off x="548640" y="5120640"/>
            <a:ext cx="3291840" cy="594360"/>
          </a:xfrm>
          <a:prstGeom prst="rect">
            <a:avLst/>
          </a:prstGeom>
          <a:noFill/>
          <a:ln/>
        </p:spPr>
        <p:txBody>
          <a:bodyPr wrap="square" lIns="0" tIns="0" rIns="0" bIns="0" rtlCol="0" anchor="ctr"/>
          <a:lstStyle/>
          <a:p>
            <a:pPr algn="ctr" indent="0" marL="0">
              <a:buNone/>
            </a:pPr>
            <a:r>
              <a:rPr lang="en-US" sz="1600" b="1"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57534E"/>
          </a:solidFill>
          <a:ln w="12700">
            <a:solidFill>
              <a:srgbClr val="57534E"/>
            </a:solidFill>
            <a:prstDash val="solid"/>
          </a:ln>
        </p:spPr>
      </p:sp>
      <p:sp>
        <p:nvSpPr>
          <p:cNvPr id="3" name="Shape 1"/>
          <p:cNvSpPr/>
          <p:nvPr/>
        </p:nvSpPr>
        <p:spPr>
          <a:xfrm>
            <a:off x="583844" y="419252"/>
            <a:ext cx="432511" cy="432511"/>
          </a:xfrm>
          <a:prstGeom prst="ellipse">
            <a:avLst/>
          </a:prstGeom>
          <a:solidFill>
            <a:srgbClr val="D97706"/>
          </a:solidFill>
          <a:ln w="12700">
            <a:solidFill>
              <a:srgbClr val="D97706"/>
            </a:solidFill>
            <a:prstDash val="solid"/>
          </a:ln>
        </p:spPr>
      </p:sp>
      <p:sp>
        <p:nvSpPr>
          <p:cNvPr id="4" name="Shape 2"/>
          <p:cNvSpPr/>
          <p:nvPr/>
        </p:nvSpPr>
        <p:spPr>
          <a:xfrm>
            <a:off x="674370" y="509778"/>
            <a:ext cx="251460" cy="251460"/>
          </a:xfrm>
          <a:prstGeom prst="ellipse">
            <a:avLst/>
          </a:prstGeom>
          <a:solidFill>
            <a:srgbClr val="EA580C"/>
          </a:solidFill>
          <a:ln w="12700">
            <a:solidFill>
              <a:srgbClr val="EA580C"/>
            </a:solidFill>
            <a:prstDash val="solid"/>
          </a:ln>
        </p:spPr>
      </p:sp>
      <p:sp>
        <p:nvSpPr>
          <p:cNvPr id="5" name="Shape 3"/>
          <p:cNvSpPr/>
          <p:nvPr/>
        </p:nvSpPr>
        <p:spPr>
          <a:xfrm>
            <a:off x="739750" y="575158"/>
            <a:ext cx="120701" cy="120701"/>
          </a:xfrm>
          <a:prstGeom prst="ellipse">
            <a:avLst/>
          </a:prstGeom>
          <a:solidFill>
            <a:srgbClr val="FDE68A"/>
          </a:solidFill>
          <a:ln w="12700">
            <a:solidFill>
              <a:srgbClr val="FDE68A"/>
            </a:solidFill>
            <a:prstDash val="solid"/>
          </a:ln>
        </p:spPr>
      </p:sp>
      <p:sp>
        <p:nvSpPr>
          <p:cNvPr id="6" name="Text 4"/>
          <p:cNvSpPr txBox="1"/>
          <p:nvPr/>
        </p:nvSpPr>
        <p:spPr>
          <a:xfrm>
            <a:off x="1234440" y="274320"/>
            <a:ext cx="10408615" cy="731520"/>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Notebook setup</a:t>
            </a:r>
            <a:endParaRPr lang="en-US" sz="3200" dirty="0"/>
          </a:p>
        </p:txBody>
      </p:sp>
      <p:sp>
        <p:nvSpPr>
          <p:cNvPr id="7" name="Text 5"/>
          <p:cNvSpPr txBox="1"/>
          <p:nvPr/>
        </p:nvSpPr>
        <p:spPr>
          <a:xfrm>
            <a:off x="548640" y="6400800"/>
            <a:ext cx="11094415" cy="27432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Unit 3 · Lesson 6 · Day 44   </a:t>
            </a:r>
            <a:pPr algn="r" indent="0" marL="0">
              <a:buNone/>
            </a:pPr>
            <a:r>
              <a:rPr lang="en-US" sz="1100" u="sng" dirty="0">
                <a:solidFill>
                  <a:srgbClr val="C2410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100" dirty="0"/>
          </a:p>
        </p:txBody>
      </p:sp>
      <p:sp>
        <p:nvSpPr>
          <p:cNvPr id="8" name="Text 6"/>
          <p:cNvSpPr txBox="1"/>
          <p:nvPr/>
        </p:nvSpPr>
        <p:spPr>
          <a:xfrm>
            <a:off x="548640" y="1280160"/>
            <a:ext cx="7894015" cy="4846320"/>
          </a:xfrm>
          <a:prstGeom prst="rect">
            <a:avLst/>
          </a:prstGeom>
          <a:noFill/>
          <a:ln/>
        </p:spPr>
        <p:txBody>
          <a:bodyPr wrap="square" lIns="0" tIns="0" rIns="0" bIns="0" rtlCol="0" anchor="t"/>
          <a:lstStyle/>
          <a:p>
            <a:pPr indent="0" marL="0">
              <a:spcAft>
                <a:spcPts val="1000"/>
              </a:spcAft>
              <a:buNone/>
            </a:pPr>
            <a:r>
              <a:rPr lang="en-US" sz="2200" b="1" dirty="0">
                <a:solidFill>
                  <a:srgbClr val="292524"/>
                </a:solidFill>
                <a:latin typeface="Calibri" pitchFamily="34" charset="0"/>
                <a:ea typeface="Calibri" pitchFamily="34" charset="-122"/>
                <a:cs typeface="Calibri" pitchFamily="34" charset="-120"/>
              </a:rPr>
              <a:t>Title:</a:t>
            </a:r>
            <a:pPr indent="0" marL="0">
              <a:buNone/>
            </a:pPr>
            <a:r>
              <a:rPr lang="en-US" sz="2200" dirty="0">
                <a:solidFill>
                  <a:srgbClr val="292524"/>
                </a:solidFill>
                <a:latin typeface="Calibri" pitchFamily="34" charset="0"/>
                <a:ea typeface="Calibri" pitchFamily="34" charset="-122"/>
                <a:cs typeface="Calibri" pitchFamily="34" charset="-120"/>
              </a:rPr>
              <a:t> L6 Earth's Heat. Add it to your table of contents.</a:t>
            </a:r>
            <a:endParaRPr lang="en-US" sz="2200" dirty="0"/>
          </a:p>
          <a:p>
            <a:pPr marL="342900" indent="-342900">
              <a:spcAft>
                <a:spcPts val="1000"/>
              </a:spcAft>
              <a:buSzPct val="100000"/>
              <a:buFont typeface="+mj-lt"/>
              <a:buAutoNum type="arabicPeriod" startAt="1"/>
            </a:pPr>
            <a:r>
              <a:rPr lang="en-US" sz="2200" dirty="0">
                <a:solidFill>
                  <a:srgbClr val="292524"/>
                </a:solidFill>
                <a:latin typeface="Calibri" pitchFamily="34" charset="0"/>
                <a:ea typeface="Calibri" pitchFamily="34" charset="-122"/>
                <a:cs typeface="Calibri" pitchFamily="34" charset="-120"/>
              </a:rPr>
              <a:t>Draw a big T-chart:</a:t>
            </a:r>
            <a:pPr indent="0" marL="0">
              <a:buNone/>
            </a:pPr>
            <a:r>
              <a:rPr lang="en-US" sz="2200" i="1" dirty="0">
                <a:solidFill>
                  <a:srgbClr val="292524"/>
                </a:solidFill>
                <a:latin typeface="Calibri" pitchFamily="34" charset="0"/>
                <a:ea typeface="Calibri" pitchFamily="34" charset="-122"/>
                <a:cs typeface="Calibri" pitchFamily="34" charset="-120"/>
              </a:rPr>
              <a:t> Real sources of Earth's internal heat</a:t>
            </a:r>
            <a:pPr indent="0" marL="0">
              <a:buNone/>
            </a:pPr>
            <a:r>
              <a:rPr lang="en-US" sz="2200" dirty="0">
                <a:solidFill>
                  <a:srgbClr val="292524"/>
                </a:solidFill>
                <a:latin typeface="Calibri" pitchFamily="34" charset="0"/>
                <a:ea typeface="Calibri" pitchFamily="34" charset="-122"/>
                <a:cs typeface="Calibri" pitchFamily="34" charset="-120"/>
              </a:rPr>
              <a:t> |</a:t>
            </a:r>
            <a:pPr indent="0" marL="0">
              <a:buNone/>
            </a:pPr>
            <a:r>
              <a:rPr lang="en-US" sz="2200" i="1" dirty="0">
                <a:solidFill>
                  <a:srgbClr val="292524"/>
                </a:solidFill>
                <a:latin typeface="Calibri" pitchFamily="34" charset="0"/>
                <a:ea typeface="Calibri" pitchFamily="34" charset="-122"/>
                <a:cs typeface="Calibri" pitchFamily="34" charset="-120"/>
              </a:rPr>
              <a:t> NOT sources</a:t>
            </a:r>
            <a:pPr indent="0" marL="0">
              <a:buNone/>
            </a:pPr>
            <a:r>
              <a:rPr lang="en-US" sz="2200" dirty="0">
                <a:solidFill>
                  <a:srgbClr val="292524"/>
                </a:solidFill>
                <a:latin typeface="Calibri" pitchFamily="34" charset="0"/>
                <a:ea typeface="Calibri" pitchFamily="34" charset="-122"/>
                <a:cs typeface="Calibri" pitchFamily="34" charset="-120"/>
              </a:rPr>
              <a:t>. Sort the cards from Slide 4.</a:t>
            </a:r>
            <a:endParaRPr lang="en-US" sz="2200" dirty="0"/>
          </a:p>
          <a:p>
            <a:pPr marL="342900" indent="-342900">
              <a:spcAft>
                <a:spcPts val="1000"/>
              </a:spcAft>
              <a:buSzPct val="100000"/>
              <a:buFont typeface="+mj-lt"/>
              <a:buAutoNum type="arabicPeriod" startAt="2"/>
            </a:pPr>
            <a:r>
              <a:rPr lang="en-US" sz="2200" dirty="0">
                <a:solidFill>
                  <a:srgbClr val="292524"/>
                </a:solidFill>
                <a:latin typeface="Calibri" pitchFamily="34" charset="0"/>
                <a:ea typeface="Calibri" pitchFamily="34" charset="-122"/>
                <a:cs typeface="Calibri" pitchFamily="34" charset="-120"/>
              </a:rPr>
              <a:t>Under the T-chart, write the two sources in a box with a picture for each.</a:t>
            </a:r>
            <a:endParaRPr lang="en-US" sz="2200" dirty="0"/>
          </a:p>
          <a:p>
            <a:pPr marL="342900" indent="-342900">
              <a:spcAft>
                <a:spcPts val="1000"/>
              </a:spcAft>
              <a:buSzPct val="100000"/>
              <a:buFont typeface="+mj-lt"/>
              <a:buAutoNum type="arabicPeriod" startAt="3"/>
            </a:pPr>
            <a:r>
              <a:rPr lang="en-US" sz="2200" dirty="0">
                <a:solidFill>
                  <a:srgbClr val="292524"/>
                </a:solidFill>
                <a:latin typeface="Calibri" pitchFamily="34" charset="0"/>
                <a:ea typeface="Calibri" pitchFamily="34" charset="-122"/>
                <a:cs typeface="Calibri" pitchFamily="34" charset="-120"/>
              </a:rPr>
              <a:t>Answer the exit question (Slide 5).</a:t>
            </a:r>
            <a:endParaRPr lang="en-US" sz="2200" dirty="0"/>
          </a:p>
        </p:txBody>
      </p:sp>
      <p:sp>
        <p:nvSpPr>
          <p:cNvPr id="9" name="Shape 7"/>
          <p:cNvSpPr/>
          <p:nvPr/>
        </p:nvSpPr>
        <p:spPr>
          <a:xfrm>
            <a:off x="8808415" y="1463040"/>
            <a:ext cx="2834640" cy="3291840"/>
          </a:xfrm>
          <a:prstGeom prst="roundRect">
            <a:avLst>
              <a:gd name="adj" fmla="val 3871"/>
            </a:avLst>
          </a:prstGeom>
          <a:solidFill>
            <a:srgbClr val="FEF3E2"/>
          </a:solidFill>
          <a:ln w="12700">
            <a:solidFill>
              <a:srgbClr val="FEF3E2"/>
            </a:solidFill>
            <a:prstDash val="solid"/>
          </a:ln>
        </p:spPr>
      </p:sp>
      <p:sp>
        <p:nvSpPr>
          <p:cNvPr id="10" name="Text 8"/>
          <p:cNvSpPr txBox="1"/>
          <p:nvPr/>
        </p:nvSpPr>
        <p:spPr>
          <a:xfrm>
            <a:off x="9037015" y="1691640"/>
            <a:ext cx="2377440" cy="2834640"/>
          </a:xfrm>
          <a:prstGeom prst="rect">
            <a:avLst/>
          </a:prstGeom>
          <a:noFill/>
          <a:ln/>
        </p:spPr>
        <p:txBody>
          <a:bodyPr wrap="square" lIns="0" tIns="0" rIns="0" bIns="0" rtlCol="0" anchor="t"/>
          <a:lstStyle/>
          <a:p>
            <a:pPr indent="0" marL="0">
              <a:buNone/>
            </a:pPr>
            <a:r>
              <a:rPr lang="en-US" sz="2000" b="1" dirty="0">
                <a:solidFill>
                  <a:srgbClr val="C2410C"/>
                </a:solidFill>
                <a:latin typeface="Calibri" pitchFamily="34" charset="0"/>
                <a:ea typeface="Calibri" pitchFamily="34" charset="-122"/>
                <a:cs typeface="Calibri" pitchFamily="34" charset="-120"/>
              </a:rPr>
              <a:t>Your notebook is your answer sheet.</a:t>
            </a:r>
            <a:endParaRPr lang="en-US" sz="2000" dirty="0"/>
          </a:p>
          <a:p>
            <a:pPr indent="0" marL="0">
              <a:buNone/>
            </a:pPr>
            <a:r>
              <a:rPr lang="en-US" sz="1600" dirty="0">
                <a:solidFill>
                  <a:srgbClr val="292524"/>
                </a:solidFill>
                <a:latin typeface="Calibri" pitchFamily="34" charset="0"/>
                <a:ea typeface="Calibri" pitchFamily="34" charset="-122"/>
                <a:cs typeface="Calibri" pitchFamily="34" charset="-120"/>
              </a:rPr>
              <a:t>Title, date, and a table of contents entry on every page. Keep it neat; your teacher will check it.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57534E"/>
          </a:solidFill>
          <a:ln w="12700">
            <a:solidFill>
              <a:srgbClr val="57534E"/>
            </a:solidFill>
            <a:prstDash val="solid"/>
          </a:ln>
        </p:spPr>
      </p:sp>
      <p:sp>
        <p:nvSpPr>
          <p:cNvPr id="3" name="Shape 1"/>
          <p:cNvSpPr/>
          <p:nvPr/>
        </p:nvSpPr>
        <p:spPr>
          <a:xfrm>
            <a:off x="583844" y="419252"/>
            <a:ext cx="432511" cy="432511"/>
          </a:xfrm>
          <a:prstGeom prst="ellipse">
            <a:avLst/>
          </a:prstGeom>
          <a:solidFill>
            <a:srgbClr val="D97706"/>
          </a:solidFill>
          <a:ln w="12700">
            <a:solidFill>
              <a:srgbClr val="D97706"/>
            </a:solidFill>
            <a:prstDash val="solid"/>
          </a:ln>
        </p:spPr>
      </p:sp>
      <p:sp>
        <p:nvSpPr>
          <p:cNvPr id="4" name="Shape 2"/>
          <p:cNvSpPr/>
          <p:nvPr/>
        </p:nvSpPr>
        <p:spPr>
          <a:xfrm>
            <a:off x="674370" y="509778"/>
            <a:ext cx="251460" cy="251460"/>
          </a:xfrm>
          <a:prstGeom prst="ellipse">
            <a:avLst/>
          </a:prstGeom>
          <a:solidFill>
            <a:srgbClr val="EA580C"/>
          </a:solidFill>
          <a:ln w="12700">
            <a:solidFill>
              <a:srgbClr val="EA580C"/>
            </a:solidFill>
            <a:prstDash val="solid"/>
          </a:ln>
        </p:spPr>
      </p:sp>
      <p:sp>
        <p:nvSpPr>
          <p:cNvPr id="5" name="Shape 3"/>
          <p:cNvSpPr/>
          <p:nvPr/>
        </p:nvSpPr>
        <p:spPr>
          <a:xfrm>
            <a:off x="739750" y="575158"/>
            <a:ext cx="120701" cy="120701"/>
          </a:xfrm>
          <a:prstGeom prst="ellipse">
            <a:avLst/>
          </a:prstGeom>
          <a:solidFill>
            <a:srgbClr val="FDE68A"/>
          </a:solidFill>
          <a:ln w="12700">
            <a:solidFill>
              <a:srgbClr val="FDE68A"/>
            </a:solidFill>
            <a:prstDash val="solid"/>
          </a:ln>
        </p:spPr>
      </p:sp>
      <p:sp>
        <p:nvSpPr>
          <p:cNvPr id="6" name="Text 4"/>
          <p:cNvSpPr txBox="1"/>
          <p:nvPr/>
        </p:nvSpPr>
        <p:spPr>
          <a:xfrm>
            <a:off x="1234440" y="274320"/>
            <a:ext cx="10408615" cy="731520"/>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1. Do Now</a:t>
            </a:r>
            <a:endParaRPr lang="en-US" sz="3200" dirty="0"/>
          </a:p>
        </p:txBody>
      </p:sp>
      <p:sp>
        <p:nvSpPr>
          <p:cNvPr id="7" name="Text 5"/>
          <p:cNvSpPr txBox="1"/>
          <p:nvPr/>
        </p:nvSpPr>
        <p:spPr>
          <a:xfrm>
            <a:off x="548640" y="6400800"/>
            <a:ext cx="11094415" cy="27432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Unit 3 · Lesson 6 · Day 44   </a:t>
            </a:r>
            <a:pPr algn="r" indent="0" marL="0">
              <a:buNone/>
            </a:pPr>
            <a:r>
              <a:rPr lang="en-US" sz="1100" u="sng" dirty="0">
                <a:solidFill>
                  <a:srgbClr val="C2410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100" dirty="0"/>
          </a:p>
        </p:txBody>
      </p:sp>
      <p:sp>
        <p:nvSpPr>
          <p:cNvPr id="8" name="Shape 6"/>
          <p:cNvSpPr/>
          <p:nvPr/>
        </p:nvSpPr>
        <p:spPr>
          <a:xfrm>
            <a:off x="548640" y="1371600"/>
            <a:ext cx="11094415" cy="4480560"/>
          </a:xfrm>
          <a:prstGeom prst="roundRect">
            <a:avLst>
              <a:gd name="adj" fmla="val 3061"/>
            </a:avLst>
          </a:prstGeom>
          <a:solidFill>
            <a:srgbClr val="FEF3E2"/>
          </a:solidFill>
          <a:ln w="12700">
            <a:solidFill>
              <a:srgbClr val="FEF3E2"/>
            </a:solidFill>
            <a:prstDash val="solid"/>
          </a:ln>
        </p:spPr>
      </p:sp>
      <p:sp>
        <p:nvSpPr>
          <p:cNvPr id="9" name="Shape 7"/>
          <p:cNvSpPr/>
          <p:nvPr/>
        </p:nvSpPr>
        <p:spPr>
          <a:xfrm>
            <a:off x="960120" y="1783080"/>
            <a:ext cx="1188720" cy="1188720"/>
          </a:xfrm>
          <a:prstGeom prst="ellipse">
            <a:avLst/>
          </a:prstGeom>
          <a:solidFill>
            <a:srgbClr val="C2410C"/>
          </a:solidFill>
          <a:ln w="12700">
            <a:solidFill>
              <a:srgbClr val="C2410C"/>
            </a:solidFill>
            <a:prstDash val="solid"/>
          </a:ln>
        </p:spPr>
      </p:sp>
      <p:sp>
        <p:nvSpPr>
          <p:cNvPr id="10" name="Text 8"/>
          <p:cNvSpPr txBox="1"/>
          <p:nvPr/>
        </p:nvSpPr>
        <p:spPr>
          <a:xfrm>
            <a:off x="960120" y="178308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t>
            </a:r>
            <a:endParaRPr lang="en-US" sz="4000" dirty="0"/>
          </a:p>
        </p:txBody>
      </p:sp>
      <p:sp>
        <p:nvSpPr>
          <p:cNvPr id="11" name="Text 9"/>
          <p:cNvSpPr txBox="1"/>
          <p:nvPr/>
        </p:nvSpPr>
        <p:spPr>
          <a:xfrm>
            <a:off x="2514600" y="1783080"/>
            <a:ext cx="8716975" cy="3840480"/>
          </a:xfrm>
          <a:prstGeom prst="rect">
            <a:avLst/>
          </a:prstGeom>
          <a:noFill/>
          <a:ln/>
        </p:spPr>
        <p:txBody>
          <a:bodyPr wrap="square" lIns="0" tIns="0" rIns="0" bIns="0" rtlCol="0" anchor="t"/>
          <a:lstStyle/>
          <a:p>
            <a:pPr indent="0" marL="0">
              <a:spcAft>
                <a:spcPts val="1400"/>
              </a:spcAft>
              <a:buNone/>
            </a:pPr>
            <a:r>
              <a:rPr lang="en-US" sz="3000" dirty="0">
                <a:solidFill>
                  <a:srgbClr val="292524"/>
                </a:solidFill>
                <a:latin typeface="Calibri" pitchFamily="34" charset="0"/>
                <a:ea typeface="Calibri" pitchFamily="34" charset="-122"/>
                <a:cs typeface="Calibri" pitchFamily="34" charset="-120"/>
              </a:rPr>
              <a:t>Rub your hands together fast for 10 seconds. What happens? Where did that heat come from?</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57534E"/>
          </a:solidFill>
          <a:ln w="12700">
            <a:solidFill>
              <a:srgbClr val="57534E"/>
            </a:solidFill>
            <a:prstDash val="solid"/>
          </a:ln>
        </p:spPr>
      </p:sp>
      <p:sp>
        <p:nvSpPr>
          <p:cNvPr id="3" name="Shape 1"/>
          <p:cNvSpPr/>
          <p:nvPr/>
        </p:nvSpPr>
        <p:spPr>
          <a:xfrm>
            <a:off x="583844" y="419252"/>
            <a:ext cx="432511" cy="432511"/>
          </a:xfrm>
          <a:prstGeom prst="ellipse">
            <a:avLst/>
          </a:prstGeom>
          <a:solidFill>
            <a:srgbClr val="D97706"/>
          </a:solidFill>
          <a:ln w="12700">
            <a:solidFill>
              <a:srgbClr val="D97706"/>
            </a:solidFill>
            <a:prstDash val="solid"/>
          </a:ln>
        </p:spPr>
      </p:sp>
      <p:sp>
        <p:nvSpPr>
          <p:cNvPr id="4" name="Shape 2"/>
          <p:cNvSpPr/>
          <p:nvPr/>
        </p:nvSpPr>
        <p:spPr>
          <a:xfrm>
            <a:off x="674370" y="509778"/>
            <a:ext cx="251460" cy="251460"/>
          </a:xfrm>
          <a:prstGeom prst="ellipse">
            <a:avLst/>
          </a:prstGeom>
          <a:solidFill>
            <a:srgbClr val="EA580C"/>
          </a:solidFill>
          <a:ln w="12700">
            <a:solidFill>
              <a:srgbClr val="EA580C"/>
            </a:solidFill>
            <a:prstDash val="solid"/>
          </a:ln>
        </p:spPr>
      </p:sp>
      <p:sp>
        <p:nvSpPr>
          <p:cNvPr id="5" name="Shape 3"/>
          <p:cNvSpPr/>
          <p:nvPr/>
        </p:nvSpPr>
        <p:spPr>
          <a:xfrm>
            <a:off x="739750" y="575158"/>
            <a:ext cx="120701" cy="120701"/>
          </a:xfrm>
          <a:prstGeom prst="ellipse">
            <a:avLst/>
          </a:prstGeom>
          <a:solidFill>
            <a:srgbClr val="FDE68A"/>
          </a:solidFill>
          <a:ln w="12700">
            <a:solidFill>
              <a:srgbClr val="FDE68A"/>
            </a:solidFill>
            <a:prstDash val="solid"/>
          </a:ln>
        </p:spPr>
      </p:sp>
      <p:sp>
        <p:nvSpPr>
          <p:cNvPr id="6" name="Text 4"/>
          <p:cNvSpPr txBox="1"/>
          <p:nvPr/>
        </p:nvSpPr>
        <p:spPr>
          <a:xfrm>
            <a:off x="1234440" y="274320"/>
            <a:ext cx="10408615" cy="731520"/>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2. Learning target</a:t>
            </a:r>
            <a:endParaRPr lang="en-US" sz="3200" dirty="0"/>
          </a:p>
        </p:txBody>
      </p:sp>
      <p:sp>
        <p:nvSpPr>
          <p:cNvPr id="7" name="Text 5"/>
          <p:cNvSpPr txBox="1"/>
          <p:nvPr/>
        </p:nvSpPr>
        <p:spPr>
          <a:xfrm>
            <a:off x="548640" y="6400800"/>
            <a:ext cx="11094415" cy="27432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Unit 3 · Lesson 6 · Day 44   </a:t>
            </a:r>
            <a:pPr algn="r" indent="0" marL="0">
              <a:buNone/>
            </a:pPr>
            <a:r>
              <a:rPr lang="en-US" sz="1100" u="sng" dirty="0">
                <a:solidFill>
                  <a:srgbClr val="C2410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100" dirty="0"/>
          </a:p>
        </p:txBody>
      </p:sp>
      <p:sp>
        <p:nvSpPr>
          <p:cNvPr id="8" name="Shape 6"/>
          <p:cNvSpPr/>
          <p:nvPr/>
        </p:nvSpPr>
        <p:spPr>
          <a:xfrm>
            <a:off x="548640" y="1325880"/>
            <a:ext cx="11094415" cy="1280160"/>
          </a:xfrm>
          <a:prstGeom prst="roundRect">
            <a:avLst>
              <a:gd name="adj" fmla="val 7143"/>
            </a:avLst>
          </a:prstGeom>
          <a:solidFill>
            <a:srgbClr val="FEF3E2"/>
          </a:solidFill>
          <a:ln w="12700">
            <a:solidFill>
              <a:srgbClr val="FEF3E2"/>
            </a:solidFill>
            <a:prstDash val="solid"/>
          </a:ln>
        </p:spPr>
      </p:sp>
      <p:sp>
        <p:nvSpPr>
          <p:cNvPr id="9" name="Shape 7"/>
          <p:cNvSpPr/>
          <p:nvPr/>
        </p:nvSpPr>
        <p:spPr>
          <a:xfrm>
            <a:off x="777240" y="1531620"/>
            <a:ext cx="868680" cy="868680"/>
          </a:xfrm>
          <a:prstGeom prst="ellipse">
            <a:avLst/>
          </a:prstGeom>
          <a:solidFill>
            <a:srgbClr val="C2410C"/>
          </a:solidFill>
          <a:ln w="12700">
            <a:solidFill>
              <a:srgbClr val="C2410C"/>
            </a:solidFill>
            <a:prstDash val="solid"/>
          </a:ln>
        </p:spPr>
      </p:sp>
      <p:sp>
        <p:nvSpPr>
          <p:cNvPr id="10" name="Text 8"/>
          <p:cNvSpPr txBox="1"/>
          <p:nvPr/>
        </p:nvSpPr>
        <p:spPr>
          <a:xfrm>
            <a:off x="777240" y="1531620"/>
            <a:ext cx="8686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3.4</a:t>
            </a:r>
            <a:endParaRPr lang="en-US" sz="2200" dirty="0"/>
          </a:p>
        </p:txBody>
      </p:sp>
      <p:sp>
        <p:nvSpPr>
          <p:cNvPr id="11" name="Text 9"/>
          <p:cNvSpPr txBox="1"/>
          <p:nvPr/>
        </p:nvSpPr>
        <p:spPr>
          <a:xfrm>
            <a:off x="1965960" y="1325880"/>
            <a:ext cx="9311335" cy="1280160"/>
          </a:xfrm>
          <a:prstGeom prst="rect">
            <a:avLst/>
          </a:prstGeom>
          <a:noFill/>
          <a:ln/>
        </p:spPr>
        <p:txBody>
          <a:bodyPr wrap="square" lIns="0" tIns="0" rIns="0" bIns="0" rtlCol="0" anchor="ctr"/>
          <a:lstStyle/>
          <a:p>
            <a:pPr indent="0" marL="0">
              <a:buNone/>
            </a:pPr>
            <a:r>
              <a:rPr lang="en-US" sz="2400" dirty="0">
                <a:solidFill>
                  <a:srgbClr val="292524"/>
                </a:solidFill>
                <a:latin typeface="Calibri" pitchFamily="34" charset="0"/>
                <a:ea typeface="Calibri" pitchFamily="34" charset="-122"/>
                <a:cs typeface="Calibri" pitchFamily="34" charset="-120"/>
              </a:rPr>
              <a:t>I can identify the two sources of Earth's internal heat: heat left from formation and radioactive decay.</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57534E"/>
          </a:solidFill>
          <a:ln w="12700">
            <a:solidFill>
              <a:srgbClr val="57534E"/>
            </a:solidFill>
            <a:prstDash val="solid"/>
          </a:ln>
        </p:spPr>
      </p:sp>
      <p:sp>
        <p:nvSpPr>
          <p:cNvPr id="3" name="Shape 1"/>
          <p:cNvSpPr/>
          <p:nvPr/>
        </p:nvSpPr>
        <p:spPr>
          <a:xfrm>
            <a:off x="583844" y="419252"/>
            <a:ext cx="432511" cy="432511"/>
          </a:xfrm>
          <a:prstGeom prst="ellipse">
            <a:avLst/>
          </a:prstGeom>
          <a:solidFill>
            <a:srgbClr val="D97706"/>
          </a:solidFill>
          <a:ln w="12700">
            <a:solidFill>
              <a:srgbClr val="D97706"/>
            </a:solidFill>
            <a:prstDash val="solid"/>
          </a:ln>
        </p:spPr>
      </p:sp>
      <p:sp>
        <p:nvSpPr>
          <p:cNvPr id="4" name="Shape 2"/>
          <p:cNvSpPr/>
          <p:nvPr/>
        </p:nvSpPr>
        <p:spPr>
          <a:xfrm>
            <a:off x="674370" y="509778"/>
            <a:ext cx="251460" cy="251460"/>
          </a:xfrm>
          <a:prstGeom prst="ellipse">
            <a:avLst/>
          </a:prstGeom>
          <a:solidFill>
            <a:srgbClr val="EA580C"/>
          </a:solidFill>
          <a:ln w="12700">
            <a:solidFill>
              <a:srgbClr val="EA580C"/>
            </a:solidFill>
            <a:prstDash val="solid"/>
          </a:ln>
        </p:spPr>
      </p:sp>
      <p:sp>
        <p:nvSpPr>
          <p:cNvPr id="5" name="Shape 3"/>
          <p:cNvSpPr/>
          <p:nvPr/>
        </p:nvSpPr>
        <p:spPr>
          <a:xfrm>
            <a:off x="739750" y="575158"/>
            <a:ext cx="120701" cy="120701"/>
          </a:xfrm>
          <a:prstGeom prst="ellipse">
            <a:avLst/>
          </a:prstGeom>
          <a:solidFill>
            <a:srgbClr val="FDE68A"/>
          </a:solidFill>
          <a:ln w="12700">
            <a:solidFill>
              <a:srgbClr val="FDE68A"/>
            </a:solidFill>
            <a:prstDash val="solid"/>
          </a:ln>
        </p:spPr>
      </p:sp>
      <p:sp>
        <p:nvSpPr>
          <p:cNvPr id="6" name="Text 4"/>
          <p:cNvSpPr txBox="1"/>
          <p:nvPr/>
        </p:nvSpPr>
        <p:spPr>
          <a:xfrm>
            <a:off x="1234440" y="274320"/>
            <a:ext cx="10408615" cy="731520"/>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3. Two sources of heat</a:t>
            </a:r>
            <a:endParaRPr lang="en-US" sz="3200" dirty="0"/>
          </a:p>
        </p:txBody>
      </p:sp>
      <p:sp>
        <p:nvSpPr>
          <p:cNvPr id="7" name="Text 5"/>
          <p:cNvSpPr txBox="1"/>
          <p:nvPr/>
        </p:nvSpPr>
        <p:spPr>
          <a:xfrm>
            <a:off x="548640" y="6400800"/>
            <a:ext cx="11094415" cy="27432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Unit 3 · Lesson 6 · Day 44   </a:t>
            </a:r>
            <a:pPr algn="r" indent="0" marL="0">
              <a:buNone/>
            </a:pPr>
            <a:r>
              <a:rPr lang="en-US" sz="1100" u="sng" dirty="0">
                <a:solidFill>
                  <a:srgbClr val="C2410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100" dirty="0"/>
          </a:p>
        </p:txBody>
      </p:sp>
      <p:sp>
        <p:nvSpPr>
          <p:cNvPr id="8" name="Text 6"/>
          <p:cNvSpPr txBox="1"/>
          <p:nvPr/>
        </p:nvSpPr>
        <p:spPr>
          <a:xfrm>
            <a:off x="548640" y="1234440"/>
            <a:ext cx="11094415" cy="3895344"/>
          </a:xfrm>
          <a:prstGeom prst="rect">
            <a:avLst/>
          </a:prstGeom>
          <a:noFill/>
          <a:ln/>
        </p:spPr>
        <p:txBody>
          <a:bodyPr wrap="square" lIns="0" tIns="0" rIns="0" bIns="0" rtlCol="0" anchor="t"/>
          <a:lstStyle/>
          <a:p>
            <a:pPr indent="0" marL="0">
              <a:spcAft>
                <a:spcPts val="1100"/>
              </a:spcAft>
              <a:buNone/>
            </a:pPr>
            <a:r>
              <a:rPr lang="en-US" sz="2400" b="1" dirty="0">
                <a:solidFill>
                  <a:srgbClr val="292524"/>
                </a:solidFill>
                <a:latin typeface="Calibri" pitchFamily="34" charset="0"/>
                <a:ea typeface="Calibri" pitchFamily="34" charset="-122"/>
                <a:cs typeface="Calibri" pitchFamily="34" charset="-120"/>
              </a:rPr>
              <a:t>1. Heat left from formation.</a:t>
            </a:r>
            <a:pPr indent="0" marL="0">
              <a:buNone/>
            </a:pPr>
            <a:r>
              <a:rPr lang="en-US" sz="2400" dirty="0">
                <a:solidFill>
                  <a:srgbClr val="292524"/>
                </a:solidFill>
                <a:latin typeface="Calibri" pitchFamily="34" charset="0"/>
                <a:ea typeface="Calibri" pitchFamily="34" charset="-122"/>
                <a:cs typeface="Calibri" pitchFamily="34" charset="-120"/>
              </a:rPr>
              <a:t> About 4.6 billion years ago, Earth formed as rocks smashed together. Each crash turned energy of motion into heat, like rubbing your hands. Heavy metals sinking to the center made more heat. Earth is still slowly cooling off.</a:t>
            </a:r>
            <a:endParaRPr lang="en-US" sz="2400" dirty="0"/>
          </a:p>
          <a:p>
            <a:pPr indent="0" marL="0">
              <a:spcAft>
                <a:spcPts val="1100"/>
              </a:spcAft>
              <a:buNone/>
            </a:pPr>
            <a:r>
              <a:rPr lang="en-US" sz="2400" b="1" dirty="0">
                <a:solidFill>
                  <a:srgbClr val="292524"/>
                </a:solidFill>
                <a:latin typeface="Calibri" pitchFamily="34" charset="0"/>
                <a:ea typeface="Calibri" pitchFamily="34" charset="-122"/>
                <a:cs typeface="Calibri" pitchFamily="34" charset="-120"/>
              </a:rPr>
              <a:t>2. Radioactive decay.</a:t>
            </a:r>
            <a:pPr indent="0" marL="0">
              <a:buNone/>
            </a:pPr>
            <a:r>
              <a:rPr lang="en-US" sz="2400" dirty="0">
                <a:solidFill>
                  <a:srgbClr val="292524"/>
                </a:solidFill>
                <a:latin typeface="Calibri" pitchFamily="34" charset="0"/>
                <a:ea typeface="Calibri" pitchFamily="34" charset="-122"/>
                <a:cs typeface="Calibri" pitchFamily="34" charset="-120"/>
              </a:rPr>
              <a:t> Some elements in rock, like</a:t>
            </a:r>
            <a:pPr indent="0" marL="0">
              <a:buNone/>
            </a:pPr>
            <a:r>
              <a:rPr lang="en-US" sz="2400" b="1" dirty="0">
                <a:solidFill>
                  <a:srgbClr val="292524"/>
                </a:solidFill>
                <a:latin typeface="Calibri" pitchFamily="34" charset="0"/>
                <a:ea typeface="Calibri" pitchFamily="34" charset="-122"/>
                <a:cs typeface="Calibri" pitchFamily="34" charset="-120"/>
              </a:rPr>
              <a:t> uranium</a:t>
            </a:r>
            <a:pPr indent="0" marL="0">
              <a:buNone/>
            </a:pPr>
            <a:r>
              <a:rPr lang="en-US" sz="2400" dirty="0">
                <a:solidFill>
                  <a:srgbClr val="292524"/>
                </a:solidFill>
                <a:latin typeface="Calibri" pitchFamily="34" charset="0"/>
                <a:ea typeface="Calibri" pitchFamily="34" charset="-122"/>
                <a:cs typeface="Calibri" pitchFamily="34" charset="-120"/>
              </a:rPr>
              <a:t>,</a:t>
            </a:r>
            <a:pPr indent="0" marL="0">
              <a:buNone/>
            </a:pPr>
            <a:r>
              <a:rPr lang="en-US" sz="2400" b="1" dirty="0">
                <a:solidFill>
                  <a:srgbClr val="292524"/>
                </a:solidFill>
                <a:latin typeface="Calibri" pitchFamily="34" charset="0"/>
                <a:ea typeface="Calibri" pitchFamily="34" charset="-122"/>
                <a:cs typeface="Calibri" pitchFamily="34" charset="-120"/>
              </a:rPr>
              <a:t> thorium</a:t>
            </a:r>
            <a:pPr indent="0" marL="0">
              <a:buNone/>
            </a:pPr>
            <a:r>
              <a:rPr lang="en-US" sz="2400" dirty="0">
                <a:solidFill>
                  <a:srgbClr val="292524"/>
                </a:solidFill>
                <a:latin typeface="Calibri" pitchFamily="34" charset="0"/>
                <a:ea typeface="Calibri" pitchFamily="34" charset="-122"/>
                <a:cs typeface="Calibri" pitchFamily="34" charset="-120"/>
              </a:rPr>
              <a:t>, and</a:t>
            </a:r>
            <a:pPr indent="0" marL="0">
              <a:buNone/>
            </a:pPr>
            <a:r>
              <a:rPr lang="en-US" sz="2400" b="1" dirty="0">
                <a:solidFill>
                  <a:srgbClr val="292524"/>
                </a:solidFill>
                <a:latin typeface="Calibri" pitchFamily="34" charset="0"/>
                <a:ea typeface="Calibri" pitchFamily="34" charset="-122"/>
                <a:cs typeface="Calibri" pitchFamily="34" charset="-120"/>
              </a:rPr>
              <a:t> potassium</a:t>
            </a:r>
            <a:pPr indent="0" marL="0">
              <a:buNone/>
            </a:pPr>
            <a:r>
              <a:rPr lang="en-US" sz="2400" dirty="0">
                <a:solidFill>
                  <a:srgbClr val="292524"/>
                </a:solidFill>
                <a:latin typeface="Calibri" pitchFamily="34" charset="0"/>
                <a:ea typeface="Calibri" pitchFamily="34" charset="-122"/>
                <a:cs typeface="Calibri" pitchFamily="34" charset="-120"/>
              </a:rPr>
              <a:t>, are unstable. They slowly break down and give off energy as heat. This is still happening today.</a:t>
            </a:r>
            <a:endParaRPr lang="en-US" sz="2400" dirty="0"/>
          </a:p>
          <a:p>
            <a:pPr indent="0" marL="0">
              <a:spcAft>
                <a:spcPts val="1100"/>
              </a:spcAft>
              <a:buNone/>
            </a:pPr>
            <a:r>
              <a:rPr lang="en-US" sz="2400" dirty="0">
                <a:solidFill>
                  <a:srgbClr val="292524"/>
                </a:solidFill>
                <a:latin typeface="Calibri" pitchFamily="34" charset="0"/>
                <a:ea typeface="Calibri" pitchFamily="34" charset="-122"/>
                <a:cs typeface="Calibri" pitchFamily="34" charset="-120"/>
              </a:rPr>
              <a:t>Heat always flows from hot to cold: from Earth's hot center</a:t>
            </a:r>
            <a:pPr indent="0" marL="0">
              <a:buNone/>
            </a:pPr>
            <a:r>
              <a:rPr lang="en-US" sz="2400" b="1" dirty="0">
                <a:solidFill>
                  <a:srgbClr val="292524"/>
                </a:solidFill>
                <a:latin typeface="Calibri" pitchFamily="34" charset="0"/>
                <a:ea typeface="Calibri" pitchFamily="34" charset="-122"/>
                <a:cs typeface="Calibri" pitchFamily="34" charset="-120"/>
              </a:rPr>
              <a:t> outward</a:t>
            </a:r>
            <a:pPr indent="0" marL="0">
              <a:buNone/>
            </a:pPr>
            <a:r>
              <a:rPr lang="en-US" sz="2400" dirty="0">
                <a:solidFill>
                  <a:srgbClr val="292524"/>
                </a:solidFill>
                <a:latin typeface="Calibri" pitchFamily="34" charset="0"/>
                <a:ea typeface="Calibri" pitchFamily="34" charset="-122"/>
                <a:cs typeface="Calibri" pitchFamily="34" charset="-120"/>
              </a:rPr>
              <a:t> toward the cooler surface.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57534E"/>
          </a:solidFill>
          <a:ln w="12700">
            <a:solidFill>
              <a:srgbClr val="57534E"/>
            </a:solidFill>
            <a:prstDash val="solid"/>
          </a:ln>
        </p:spPr>
      </p:sp>
      <p:sp>
        <p:nvSpPr>
          <p:cNvPr id="3" name="Shape 1"/>
          <p:cNvSpPr/>
          <p:nvPr/>
        </p:nvSpPr>
        <p:spPr>
          <a:xfrm>
            <a:off x="583844" y="419252"/>
            <a:ext cx="432511" cy="432511"/>
          </a:xfrm>
          <a:prstGeom prst="ellipse">
            <a:avLst/>
          </a:prstGeom>
          <a:solidFill>
            <a:srgbClr val="D97706"/>
          </a:solidFill>
          <a:ln w="12700">
            <a:solidFill>
              <a:srgbClr val="D97706"/>
            </a:solidFill>
            <a:prstDash val="solid"/>
          </a:ln>
        </p:spPr>
      </p:sp>
      <p:sp>
        <p:nvSpPr>
          <p:cNvPr id="4" name="Shape 2"/>
          <p:cNvSpPr/>
          <p:nvPr/>
        </p:nvSpPr>
        <p:spPr>
          <a:xfrm>
            <a:off x="674370" y="509778"/>
            <a:ext cx="251460" cy="251460"/>
          </a:xfrm>
          <a:prstGeom prst="ellipse">
            <a:avLst/>
          </a:prstGeom>
          <a:solidFill>
            <a:srgbClr val="EA580C"/>
          </a:solidFill>
          <a:ln w="12700">
            <a:solidFill>
              <a:srgbClr val="EA580C"/>
            </a:solidFill>
            <a:prstDash val="solid"/>
          </a:ln>
        </p:spPr>
      </p:sp>
      <p:sp>
        <p:nvSpPr>
          <p:cNvPr id="5" name="Shape 3"/>
          <p:cNvSpPr/>
          <p:nvPr/>
        </p:nvSpPr>
        <p:spPr>
          <a:xfrm>
            <a:off x="739750" y="575158"/>
            <a:ext cx="120701" cy="120701"/>
          </a:xfrm>
          <a:prstGeom prst="ellipse">
            <a:avLst/>
          </a:prstGeom>
          <a:solidFill>
            <a:srgbClr val="FDE68A"/>
          </a:solidFill>
          <a:ln w="12700">
            <a:solidFill>
              <a:srgbClr val="FDE68A"/>
            </a:solidFill>
            <a:prstDash val="solid"/>
          </a:ln>
        </p:spPr>
      </p:sp>
      <p:sp>
        <p:nvSpPr>
          <p:cNvPr id="6" name="Text 4"/>
          <p:cNvSpPr txBox="1"/>
          <p:nvPr/>
        </p:nvSpPr>
        <p:spPr>
          <a:xfrm>
            <a:off x="1234440" y="274320"/>
            <a:ext cx="10408615" cy="731520"/>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4. Card sort: source or not?</a:t>
            </a:r>
            <a:endParaRPr lang="en-US" sz="3200" dirty="0"/>
          </a:p>
        </p:txBody>
      </p:sp>
      <p:sp>
        <p:nvSpPr>
          <p:cNvPr id="7" name="Text 5"/>
          <p:cNvSpPr txBox="1"/>
          <p:nvPr/>
        </p:nvSpPr>
        <p:spPr>
          <a:xfrm>
            <a:off x="548640" y="6400800"/>
            <a:ext cx="11094415" cy="27432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Unit 3 · Lesson 6 · Day 44   </a:t>
            </a:r>
            <a:pPr algn="r" indent="0" marL="0">
              <a:buNone/>
            </a:pPr>
            <a:r>
              <a:rPr lang="en-US" sz="1100" u="sng" dirty="0">
                <a:solidFill>
                  <a:srgbClr val="C2410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100" dirty="0"/>
          </a:p>
        </p:txBody>
      </p:sp>
      <p:sp>
        <p:nvSpPr>
          <p:cNvPr id="8" name="Text 6"/>
          <p:cNvSpPr txBox="1"/>
          <p:nvPr/>
        </p:nvSpPr>
        <p:spPr>
          <a:xfrm>
            <a:off x="548640" y="1234440"/>
            <a:ext cx="11094415" cy="4718304"/>
          </a:xfrm>
          <a:prstGeom prst="rect">
            <a:avLst/>
          </a:prstGeom>
          <a:noFill/>
          <a:ln/>
        </p:spPr>
        <p:txBody>
          <a:bodyPr wrap="square" lIns="0" tIns="0" rIns="0" bIns="0" rtlCol="0" anchor="t"/>
          <a:lstStyle/>
          <a:p>
            <a:pPr indent="0" marL="0">
              <a:spcAft>
                <a:spcPts val="1100"/>
              </a:spcAft>
              <a:buNone/>
            </a:pPr>
            <a:r>
              <a:rPr lang="en-US" sz="2400" dirty="0">
                <a:solidFill>
                  <a:srgbClr val="292524"/>
                </a:solidFill>
                <a:latin typeface="Calibri" pitchFamily="34" charset="0"/>
                <a:ea typeface="Calibri" pitchFamily="34" charset="-122"/>
                <a:cs typeface="Calibri" pitchFamily="34" charset="-120"/>
              </a:rPr>
              <a:t>Sort these into</a:t>
            </a:r>
            <a:pPr indent="0" marL="0">
              <a:buNone/>
            </a:pPr>
            <a:r>
              <a:rPr lang="en-US" sz="2400" i="1" dirty="0">
                <a:solidFill>
                  <a:srgbClr val="292524"/>
                </a:solidFill>
                <a:latin typeface="Calibri" pitchFamily="34" charset="0"/>
                <a:ea typeface="Calibri" pitchFamily="34" charset="-122"/>
                <a:cs typeface="Calibri" pitchFamily="34" charset="-120"/>
              </a:rPr>
              <a:t> Real source</a:t>
            </a:r>
            <a:pPr indent="0" marL="0">
              <a:buNone/>
            </a:pPr>
            <a:r>
              <a:rPr lang="en-US" sz="2400" dirty="0">
                <a:solidFill>
                  <a:srgbClr val="292524"/>
                </a:solidFill>
                <a:latin typeface="Calibri" pitchFamily="34" charset="0"/>
                <a:ea typeface="Calibri" pitchFamily="34" charset="-122"/>
                <a:cs typeface="Calibri" pitchFamily="34" charset="-120"/>
              </a:rPr>
              <a:t> or</a:t>
            </a:r>
            <a:pPr indent="0" marL="0">
              <a:buNone/>
            </a:pPr>
            <a:r>
              <a:rPr lang="en-US" sz="2400" i="1" dirty="0">
                <a:solidFill>
                  <a:srgbClr val="292524"/>
                </a:solidFill>
                <a:latin typeface="Calibri" pitchFamily="34" charset="0"/>
                <a:ea typeface="Calibri" pitchFamily="34" charset="-122"/>
                <a:cs typeface="Calibri" pitchFamily="34" charset="-120"/>
              </a:rPr>
              <a:t> NOT a source</a:t>
            </a:r>
            <a:pPr indent="0" marL="0">
              <a:buNone/>
            </a:pPr>
            <a:r>
              <a:rPr lang="en-US" sz="2400" dirty="0">
                <a:solidFill>
                  <a:srgbClr val="292524"/>
                </a:solidFill>
                <a:latin typeface="Calibri" pitchFamily="34" charset="0"/>
                <a:ea typeface="Calibri" pitchFamily="34" charset="-122"/>
                <a:cs typeface="Calibri" pitchFamily="34" charset="-120"/>
              </a:rPr>
              <a:t>:</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Rocks crashing together when Earth formed</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Sunlight</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Uranium breaking down in rocks</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Volcanoes</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Iron sinking to the center of early Earth</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Earthquakes</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Potassium breaking down in rocks</a:t>
            </a:r>
            <a:endParaRPr lang="en-US" sz="2400" dirty="0"/>
          </a:p>
          <a:p>
            <a:pPr marL="342900" indent="-342900">
              <a:spcAft>
                <a:spcPts val="1100"/>
              </a:spcAft>
              <a:buSzPct val="100000"/>
              <a:buChar char="•"/>
            </a:pPr>
            <a:r>
              <a:rPr lang="en-US" sz="2400" dirty="0">
                <a:solidFill>
                  <a:srgbClr val="292524"/>
                </a:solidFill>
                <a:latin typeface="Calibri" pitchFamily="34" charset="0"/>
                <a:ea typeface="Calibri" pitchFamily="34" charset="-122"/>
                <a:cs typeface="Calibri" pitchFamily="34" charset="-120"/>
              </a:rPr>
              <a:t>Ocean tides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02920" cy="502920"/>
          </a:xfrm>
          <a:prstGeom prst="ellipse">
            <a:avLst/>
          </a:prstGeom>
          <a:solidFill>
            <a:srgbClr val="57534E"/>
          </a:solidFill>
          <a:ln w="12700">
            <a:solidFill>
              <a:srgbClr val="57534E"/>
            </a:solidFill>
            <a:prstDash val="solid"/>
          </a:ln>
        </p:spPr>
      </p:sp>
      <p:sp>
        <p:nvSpPr>
          <p:cNvPr id="3" name="Shape 1"/>
          <p:cNvSpPr/>
          <p:nvPr/>
        </p:nvSpPr>
        <p:spPr>
          <a:xfrm>
            <a:off x="583844" y="419252"/>
            <a:ext cx="432511" cy="432511"/>
          </a:xfrm>
          <a:prstGeom prst="ellipse">
            <a:avLst/>
          </a:prstGeom>
          <a:solidFill>
            <a:srgbClr val="D97706"/>
          </a:solidFill>
          <a:ln w="12700">
            <a:solidFill>
              <a:srgbClr val="D97706"/>
            </a:solidFill>
            <a:prstDash val="solid"/>
          </a:ln>
        </p:spPr>
      </p:sp>
      <p:sp>
        <p:nvSpPr>
          <p:cNvPr id="4" name="Shape 2"/>
          <p:cNvSpPr/>
          <p:nvPr/>
        </p:nvSpPr>
        <p:spPr>
          <a:xfrm>
            <a:off x="674370" y="509778"/>
            <a:ext cx="251460" cy="251460"/>
          </a:xfrm>
          <a:prstGeom prst="ellipse">
            <a:avLst/>
          </a:prstGeom>
          <a:solidFill>
            <a:srgbClr val="EA580C"/>
          </a:solidFill>
          <a:ln w="12700">
            <a:solidFill>
              <a:srgbClr val="EA580C"/>
            </a:solidFill>
            <a:prstDash val="solid"/>
          </a:ln>
        </p:spPr>
      </p:sp>
      <p:sp>
        <p:nvSpPr>
          <p:cNvPr id="5" name="Shape 3"/>
          <p:cNvSpPr/>
          <p:nvPr/>
        </p:nvSpPr>
        <p:spPr>
          <a:xfrm>
            <a:off x="739750" y="575158"/>
            <a:ext cx="120701" cy="120701"/>
          </a:xfrm>
          <a:prstGeom prst="ellipse">
            <a:avLst/>
          </a:prstGeom>
          <a:solidFill>
            <a:srgbClr val="FDE68A"/>
          </a:solidFill>
          <a:ln w="12700">
            <a:solidFill>
              <a:srgbClr val="FDE68A"/>
            </a:solidFill>
            <a:prstDash val="solid"/>
          </a:ln>
        </p:spPr>
      </p:sp>
      <p:sp>
        <p:nvSpPr>
          <p:cNvPr id="6" name="Text 4"/>
          <p:cNvSpPr txBox="1"/>
          <p:nvPr/>
        </p:nvSpPr>
        <p:spPr>
          <a:xfrm>
            <a:off x="1234440" y="274320"/>
            <a:ext cx="10408615" cy="731520"/>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5. Exit question</a:t>
            </a:r>
            <a:endParaRPr lang="en-US" sz="3200" dirty="0"/>
          </a:p>
        </p:txBody>
      </p:sp>
      <p:sp>
        <p:nvSpPr>
          <p:cNvPr id="7" name="Text 5"/>
          <p:cNvSpPr txBox="1"/>
          <p:nvPr/>
        </p:nvSpPr>
        <p:spPr>
          <a:xfrm>
            <a:off x="548640" y="6400800"/>
            <a:ext cx="11094415" cy="27432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Unit 3 · Lesson 6 · Day 44   </a:t>
            </a:r>
            <a:pPr algn="r" indent="0" marL="0">
              <a:buNone/>
            </a:pPr>
            <a:r>
              <a:rPr lang="en-US" sz="1100" u="sng" dirty="0">
                <a:solidFill>
                  <a:srgbClr val="C2410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100" dirty="0"/>
          </a:p>
        </p:txBody>
      </p:sp>
      <p:sp>
        <p:nvSpPr>
          <p:cNvPr id="8" name="Shape 6"/>
          <p:cNvSpPr/>
          <p:nvPr/>
        </p:nvSpPr>
        <p:spPr>
          <a:xfrm>
            <a:off x="548640" y="1371600"/>
            <a:ext cx="11094415" cy="4480560"/>
          </a:xfrm>
          <a:prstGeom prst="roundRect">
            <a:avLst>
              <a:gd name="adj" fmla="val 3061"/>
            </a:avLst>
          </a:prstGeom>
          <a:solidFill>
            <a:srgbClr val="FEF3E2"/>
          </a:solidFill>
          <a:ln w="12700">
            <a:solidFill>
              <a:srgbClr val="FEF3E2"/>
            </a:solidFill>
            <a:prstDash val="solid"/>
          </a:ln>
        </p:spPr>
      </p:sp>
      <p:sp>
        <p:nvSpPr>
          <p:cNvPr id="9" name="Shape 7"/>
          <p:cNvSpPr/>
          <p:nvPr/>
        </p:nvSpPr>
        <p:spPr>
          <a:xfrm>
            <a:off x="960120" y="1783080"/>
            <a:ext cx="1188720" cy="1188720"/>
          </a:xfrm>
          <a:prstGeom prst="ellipse">
            <a:avLst/>
          </a:prstGeom>
          <a:solidFill>
            <a:srgbClr val="C2410C"/>
          </a:solidFill>
          <a:ln w="12700">
            <a:solidFill>
              <a:srgbClr val="C2410C"/>
            </a:solidFill>
            <a:prstDash val="solid"/>
          </a:ln>
        </p:spPr>
      </p:sp>
      <p:sp>
        <p:nvSpPr>
          <p:cNvPr id="10" name="Text 8"/>
          <p:cNvSpPr txBox="1"/>
          <p:nvPr/>
        </p:nvSpPr>
        <p:spPr>
          <a:xfrm>
            <a:off x="960120" y="178308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t>
            </a:r>
            <a:endParaRPr lang="en-US" sz="4000" dirty="0"/>
          </a:p>
        </p:txBody>
      </p:sp>
      <p:sp>
        <p:nvSpPr>
          <p:cNvPr id="11" name="Text 9"/>
          <p:cNvSpPr txBox="1"/>
          <p:nvPr/>
        </p:nvSpPr>
        <p:spPr>
          <a:xfrm>
            <a:off x="2514600" y="1783080"/>
            <a:ext cx="8716975" cy="3840480"/>
          </a:xfrm>
          <a:prstGeom prst="rect">
            <a:avLst/>
          </a:prstGeom>
          <a:noFill/>
          <a:ln/>
        </p:spPr>
        <p:txBody>
          <a:bodyPr wrap="square" lIns="0" tIns="0" rIns="0" bIns="0" rtlCol="0" anchor="t"/>
          <a:lstStyle/>
          <a:p>
            <a:pPr indent="0" marL="0">
              <a:spcAft>
                <a:spcPts val="1400"/>
              </a:spcAft>
              <a:buNone/>
            </a:pPr>
            <a:r>
              <a:rPr lang="en-US" sz="3000" dirty="0">
                <a:solidFill>
                  <a:srgbClr val="292524"/>
                </a:solidFill>
                <a:latin typeface="Calibri" pitchFamily="34" charset="0"/>
                <a:ea typeface="Calibri" pitchFamily="34" charset="-122"/>
                <a:cs typeface="Calibri" pitchFamily="34" charset="-120"/>
              </a:rPr>
              <a:t>A classmate says, "The sun heats Earth's core." Explain why they are wrong. Use the two real sources in your answer.</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9265615" y="2011680"/>
            <a:ext cx="2377440" cy="2377440"/>
          </a:xfrm>
          <a:prstGeom prst="ellipse">
            <a:avLst/>
          </a:prstGeom>
          <a:solidFill>
            <a:srgbClr val="57534E"/>
          </a:solidFill>
          <a:ln w="12700">
            <a:solidFill>
              <a:srgbClr val="57534E"/>
            </a:solidFill>
            <a:prstDash val="solid"/>
          </a:ln>
        </p:spPr>
      </p:sp>
      <p:sp>
        <p:nvSpPr>
          <p:cNvPr id="3" name="Shape 1"/>
          <p:cNvSpPr/>
          <p:nvPr/>
        </p:nvSpPr>
        <p:spPr>
          <a:xfrm>
            <a:off x="9432036" y="2178101"/>
            <a:ext cx="2044598" cy="2044598"/>
          </a:xfrm>
          <a:prstGeom prst="ellipse">
            <a:avLst/>
          </a:prstGeom>
          <a:solidFill>
            <a:srgbClr val="D97706"/>
          </a:solidFill>
          <a:ln w="12700">
            <a:solidFill>
              <a:srgbClr val="D97706"/>
            </a:solidFill>
            <a:prstDash val="solid"/>
          </a:ln>
        </p:spPr>
      </p:sp>
      <p:sp>
        <p:nvSpPr>
          <p:cNvPr id="4" name="Shape 2"/>
          <p:cNvSpPr/>
          <p:nvPr/>
        </p:nvSpPr>
        <p:spPr>
          <a:xfrm>
            <a:off x="9859975" y="2606040"/>
            <a:ext cx="1188720" cy="1188720"/>
          </a:xfrm>
          <a:prstGeom prst="ellipse">
            <a:avLst/>
          </a:prstGeom>
          <a:solidFill>
            <a:srgbClr val="EA580C"/>
          </a:solidFill>
          <a:ln w="12700">
            <a:solidFill>
              <a:srgbClr val="EA580C"/>
            </a:solidFill>
            <a:prstDash val="solid"/>
          </a:ln>
        </p:spPr>
      </p:sp>
      <p:sp>
        <p:nvSpPr>
          <p:cNvPr id="5" name="Shape 3"/>
          <p:cNvSpPr/>
          <p:nvPr/>
        </p:nvSpPr>
        <p:spPr>
          <a:xfrm>
            <a:off x="10169042" y="2915107"/>
            <a:ext cx="570586" cy="570586"/>
          </a:xfrm>
          <a:prstGeom prst="ellipse">
            <a:avLst/>
          </a:prstGeom>
          <a:solidFill>
            <a:srgbClr val="FDE68A"/>
          </a:solidFill>
          <a:ln w="12700">
            <a:solidFill>
              <a:srgbClr val="FDE68A"/>
            </a:solidFill>
            <a:prstDash val="solid"/>
          </a:ln>
        </p:spPr>
      </p:sp>
      <p:sp>
        <p:nvSpPr>
          <p:cNvPr id="6" name="Text 4"/>
          <p:cNvSpPr txBox="1"/>
          <p:nvPr/>
        </p:nvSpPr>
        <p:spPr>
          <a:xfrm>
            <a:off x="548640" y="1097280"/>
            <a:ext cx="7772400" cy="548640"/>
          </a:xfrm>
          <a:prstGeom prst="rect">
            <a:avLst/>
          </a:prstGeom>
          <a:noFill/>
          <a:ln/>
        </p:spPr>
        <p:txBody>
          <a:bodyPr wrap="square" lIns="0" tIns="0" rIns="0" bIns="0" rtlCol="0" anchor="ctr"/>
          <a:lstStyle/>
          <a:p>
            <a:pPr indent="0" marL="0">
              <a:buNone/>
            </a:pPr>
            <a:r>
              <a:rPr lang="en-US" sz="1600" b="1" spc="300" kern="0" dirty="0">
                <a:solidFill>
                  <a:srgbClr val="D97706"/>
                </a:solidFill>
                <a:latin typeface="Calibri" pitchFamily="34" charset="0"/>
                <a:ea typeface="Calibri" pitchFamily="34" charset="-122"/>
                <a:cs typeface="Calibri" pitchFamily="34" charset="-120"/>
              </a:rPr>
              <a:t>Show what you know</a:t>
            </a:r>
            <a:endParaRPr lang="en-US" sz="1600" dirty="0"/>
          </a:p>
        </p:txBody>
      </p:sp>
      <p:sp>
        <p:nvSpPr>
          <p:cNvPr id="7" name="Text 5"/>
          <p:cNvSpPr txBox="1"/>
          <p:nvPr/>
        </p:nvSpPr>
        <p:spPr>
          <a:xfrm>
            <a:off x="548640" y="1691640"/>
            <a:ext cx="77724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CFA 3.4</a:t>
            </a:r>
            <a:endParaRPr lang="en-US" sz="4400" dirty="0"/>
          </a:p>
        </p:txBody>
      </p:sp>
      <p:sp>
        <p:nvSpPr>
          <p:cNvPr id="8" name="Text 6"/>
          <p:cNvSpPr txBox="1"/>
          <p:nvPr/>
        </p:nvSpPr>
        <p:spPr>
          <a:xfrm>
            <a:off x="548640" y="3017520"/>
            <a:ext cx="7589520" cy="2011680"/>
          </a:xfrm>
          <a:prstGeom prst="rect">
            <a:avLst/>
          </a:prstGeom>
          <a:noFill/>
          <a:ln/>
        </p:spPr>
        <p:txBody>
          <a:bodyPr wrap="square" lIns="0" tIns="0" rIns="0" bIns="0" rtlCol="0" anchor="t"/>
          <a:lstStyle/>
          <a:p>
            <a:pPr indent="0" marL="0">
              <a:buNone/>
            </a:pPr>
            <a:r>
              <a:rPr lang="en-US" sz="2200" dirty="0">
                <a:solidFill>
                  <a:srgbClr val="E7E5E4"/>
                </a:solidFill>
                <a:latin typeface="Calibri" pitchFamily="34" charset="0"/>
                <a:ea typeface="Calibri" pitchFamily="34" charset="-122"/>
                <a:cs typeface="Calibri" pitchFamily="34" charset="-120"/>
              </a:rPr>
              <a:t>Take Unit 3 CFA 3.4: Sources of Earth's heat (5 questions). If you score below a B, a review page for this target will open for you.</a:t>
            </a:r>
            <a:endParaRPr lang="en-US" sz="2200" dirty="0"/>
          </a:p>
        </p:txBody>
      </p:sp>
      <p:sp>
        <p:nvSpPr>
          <p:cNvPr id="9" name="Text 7"/>
          <p:cNvSpPr txBox="1"/>
          <p:nvPr/>
        </p:nvSpPr>
        <p:spPr>
          <a:xfrm>
            <a:off x="548640" y="6035040"/>
            <a:ext cx="5486400" cy="365760"/>
          </a:xfrm>
          <a:prstGeom prst="rect">
            <a:avLst/>
          </a:prstGeom>
          <a:noFill/>
          <a:ln/>
        </p:spPr>
        <p:txBody>
          <a:bodyPr wrap="square" lIns="0" tIns="0" rIns="0" bIns="0" rtlCol="0" anchor="ctr"/>
          <a:lstStyle/>
          <a:p>
            <a:pPr indent="0" marL="0">
              <a:buNone/>
            </a:pPr>
            <a:r>
              <a:rPr lang="en-US" sz="1400" u="sng" dirty="0">
                <a:solidFill>
                  <a:srgbClr val="D9770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webpage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Lesson 6: Where Does Earth's Heat Come From?</dc:title>
  <dc:subject>PptxGenJS Presentation</dc:subject>
  <dc:creator>PptxGenJS</dc:creator>
  <cp:lastModifiedBy>PptxGenJS</cp:lastModifiedBy>
  <cp:revision>1</cp:revision>
  <dcterms:created xsi:type="dcterms:W3CDTF">2026-10-01T20:16:15Z</dcterms:created>
  <dcterms:modified xsi:type="dcterms:W3CDTF">2026-10-01T20:16:15Z</dcterms:modified>
</cp:coreProperties>
</file>