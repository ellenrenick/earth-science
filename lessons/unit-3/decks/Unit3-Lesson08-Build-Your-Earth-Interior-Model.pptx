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 A GLANCE: Two days. Students build the unit summative model (scope &amp; sequence summative: labeled model of Earth's interior showing heat flow and convection, with a short written explanation). Day 48 is peer review and revision.
MATERIALS: Poster paper or 11x17 paper; colored pencils/markers; rulers; compasses or lids to trace circles; sticky notes.
AGENDA (minutes):
Day 47: 5: Do Now: revisit the Day 37 drawing.
10: Go over the checklist; show a quick teacher sketch (layers only) as a starting point.
35: Draft and start the final model.
Day 48: 20: Finish the model.
15: Peer review with glow/grow.
10: Revise; exit ticket.
5: Collect or photograph models.
Teacher page: https://kernhigh.instructure.com/courses/300209/pages/teacher-unit-3-lesson-8-days-47-48-build-your-earth-interior-model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KEY:
Strong model: crust, mantle, liquid outer core, solid inner core in order; iron and nickel cores; arrows outward; 'heat from formation' and 'radioactive decay' labeled; a mantle loop rising near the core and sinking near the crust; an S-wave stopping at the outer core and a P-wave bending through it. Explanation mentions seismic waves as evidence and density differences driving convection.
TEACHING NOTES:
- Score the model on targets 3.2-3.5 (0-4 each) using the checklist, or use it as evidence alongside the CSA.
- If you want students to submit a photo on Canvas, add an assignment to the module (not created yet).
SUPPORTS: Offer a pre-drawn circle template with layer boundaries for students who need it. Checklist doubles as a scoring guide.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kernhigh.instructure.com/courses/300209/pages/unit-3-lesson-8-days-47-48-build-your-earth-interior-model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hyperlink" Target="https://kernhigh.instructure.com/courses/300209/pages/unit-3-lesson-8-days-47-48-build-your-earth-interior-model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hyperlink" Target="https://kernhigh.instructure.com/courses/300209/pages/unit-3-lesson-8-days-47-48-build-your-earth-interior-model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hyperlink" Target="https://kernhigh.instructure.com/courses/300209/pages/unit-3-lesson-8-days-47-48-build-your-earth-interior-model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hyperlink" Target="https://kernhigh.instructure.com/courses/300209/pages/unit-3-lesson-8-days-47-48-build-your-earth-interior-model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hyperlink" Target="https://kernhigh.instructure.com/courses/300209/pages/unit-3-lesson-8-days-47-48-build-your-earth-interior-model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hyperlink" Target="https://kernhigh.instructure.com/courses/300209/pages/unit-3-lesson-8-days-47-48-build-your-earth-interior-model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9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36815" y="1051560"/>
            <a:ext cx="4754880" cy="4754880"/>
          </a:xfrm>
          <a:prstGeom prst="ellipse">
            <a:avLst/>
          </a:prstGeom>
          <a:solidFill>
            <a:srgbClr val="57534E"/>
          </a:solidFill>
          <a:ln w="12700">
            <a:solidFill>
              <a:srgbClr val="57534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69657" y="1384402"/>
            <a:ext cx="4089197" cy="4089197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25535" y="2240280"/>
            <a:ext cx="2377440" cy="2377440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243670" y="2858414"/>
            <a:ext cx="1141171" cy="1141171"/>
          </a:xfrm>
          <a:prstGeom prst="ellipse">
            <a:avLst/>
          </a:prstGeom>
          <a:solidFill>
            <a:srgbClr val="FDE68A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18872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3 · LESSON 8 · DAYS 47-48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737360"/>
            <a:ext cx="6583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Your Earth Interior Model</a:t>
            </a:r>
            <a:endParaRPr lang="en-US" sz="48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023360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7E5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Driving question: </a:t>
            </a:r>
            <a:pPr indent="0" marL="0">
              <a:buNone/>
            </a:pPr>
            <a:r>
              <a:rPr lang="en-US" sz="1800" i="1" dirty="0">
                <a:solidFill>
                  <a:srgbClr val="E7E5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inside Earth, and why does it move?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48640" y="5120640"/>
            <a:ext cx="3291840" cy="594360"/>
          </a:xfrm>
          <a:prstGeom prst="roundRect">
            <a:avLst>
              <a:gd name="adj" fmla="val 15385"/>
            </a:avLst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512064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the lesson webpage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02920" cy="502920"/>
          </a:xfrm>
          <a:prstGeom prst="ellipse">
            <a:avLst/>
          </a:prstGeom>
          <a:solidFill>
            <a:srgbClr val="57534E"/>
          </a:solidFill>
          <a:ln w="12700">
            <a:solidFill>
              <a:srgbClr val="57534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83844" y="419252"/>
            <a:ext cx="432511" cy="432511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74370" y="509778"/>
            <a:ext cx="251460" cy="251460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9750" y="575158"/>
            <a:ext cx="120701" cy="120701"/>
          </a:xfrm>
          <a:prstGeom prst="ellipse">
            <a:avLst/>
          </a:prstGeom>
          <a:solidFill>
            <a:srgbClr val="FDE68A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234440" y="274320"/>
            <a:ext cx="104086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19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Notebook setup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008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3 · Lesson 8 · Days 47-48   </a:t>
            </a:r>
            <a:pPr algn="r" indent="0" marL="0">
              <a:buNone/>
            </a:pPr>
            <a:r>
              <a:rPr lang="en-US" sz="1100" u="sng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the lesson webpage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280160"/>
            <a:ext cx="7894015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2200" b="1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Title:</a:t>
            </a:r>
            <a:pPr indent="0" marL="0">
              <a:buNone/>
            </a:pPr>
            <a:r>
              <a:rPr lang="en-US" sz="220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L8 Earth Interior Model. Add it to your table of contents.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47: sketch a rough draft of your model here first.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2"/>
            </a:pPr>
            <a:r>
              <a:rPr lang="en-US" sz="220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48: tape your peer feedback (Slide 4) here, and list 2 changes you made.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8808415" y="1463040"/>
            <a:ext cx="2834640" cy="3291840"/>
          </a:xfrm>
          <a:prstGeom prst="roundRect">
            <a:avLst>
              <a:gd name="adj" fmla="val 3871"/>
            </a:avLst>
          </a:prstGeom>
          <a:solidFill>
            <a:srgbClr val="FEF3E2"/>
          </a:solidFill>
          <a:ln w="12700">
            <a:solidFill>
              <a:srgbClr val="FEF3E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037015" y="1691640"/>
            <a:ext cx="23774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notebook is your answer sheet.</a:t>
            </a:r>
            <a:endParaRPr lang="en-US" sz="2000" dirty="0"/>
          </a:p>
          <a:p>
            <a:pPr indent="0" marL="0">
              <a:buNone/>
            </a:pPr>
            <a:r>
              <a:rPr lang="en-US" sz="160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Title, date, and a table of contents entry on every page. Keep it neat; your teacher will check it.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02920" cy="502920"/>
          </a:xfrm>
          <a:prstGeom prst="ellipse">
            <a:avLst/>
          </a:prstGeom>
          <a:solidFill>
            <a:srgbClr val="57534E"/>
          </a:solidFill>
          <a:ln w="12700">
            <a:solidFill>
              <a:srgbClr val="57534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83844" y="419252"/>
            <a:ext cx="432511" cy="432511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74370" y="509778"/>
            <a:ext cx="251460" cy="251460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9750" y="575158"/>
            <a:ext cx="120701" cy="120701"/>
          </a:xfrm>
          <a:prstGeom prst="ellipse">
            <a:avLst/>
          </a:prstGeom>
          <a:solidFill>
            <a:srgbClr val="FDE68A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234440" y="274320"/>
            <a:ext cx="104086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19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Do Now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008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3 · Lesson 8 · Days 47-48   </a:t>
            </a:r>
            <a:pPr algn="r" indent="0" marL="0">
              <a:buNone/>
            </a:pPr>
            <a:r>
              <a:rPr lang="en-US" sz="1100" u="sng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the lesson webpage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1371600"/>
            <a:ext cx="11094415" cy="4480560"/>
          </a:xfrm>
          <a:prstGeom prst="roundRect">
            <a:avLst>
              <a:gd name="adj" fmla="val 3061"/>
            </a:avLst>
          </a:prstGeom>
          <a:solidFill>
            <a:srgbClr val="FEF3E2"/>
          </a:solidFill>
          <a:ln w="12700">
            <a:solidFill>
              <a:srgbClr val="FEF3E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0120" y="1783080"/>
            <a:ext cx="1188720" cy="1188720"/>
          </a:xfrm>
          <a:prstGeom prst="ellipse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60120" y="178308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2514600" y="1783080"/>
            <a:ext cx="8716975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300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back at the drawing on your Unit 3 cover page from Day 37. What would you change now?</a:t>
            </a:r>
            <a:endParaRPr lang="en-US" sz="3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02920" cy="502920"/>
          </a:xfrm>
          <a:prstGeom prst="ellipse">
            <a:avLst/>
          </a:prstGeom>
          <a:solidFill>
            <a:srgbClr val="57534E"/>
          </a:solidFill>
          <a:ln w="12700">
            <a:solidFill>
              <a:srgbClr val="57534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83844" y="419252"/>
            <a:ext cx="432511" cy="432511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74370" y="509778"/>
            <a:ext cx="251460" cy="251460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9750" y="575158"/>
            <a:ext cx="120701" cy="120701"/>
          </a:xfrm>
          <a:prstGeom prst="ellipse">
            <a:avLst/>
          </a:prstGeom>
          <a:solidFill>
            <a:srgbClr val="FDE68A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234440" y="274320"/>
            <a:ext cx="104086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19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Your task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008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3 · Lesson 8 · Days 47-48   </a:t>
            </a:r>
            <a:pPr algn="r" indent="0" marL="0">
              <a:buNone/>
            </a:pPr>
            <a:r>
              <a:rPr lang="en-US" sz="1100" u="sng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the lesson webpage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234440"/>
            <a:ext cx="11094415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100"/>
              </a:spcAft>
              <a:buNone/>
            </a:pPr>
            <a:r>
              <a:rPr lang="en-US" sz="240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labeled model (poster or full notebook page) of Earth's interior that answers the driving question:</a:t>
            </a:r>
            <a:pPr indent="0" marL="0">
              <a:buNone/>
            </a:pPr>
            <a:r>
              <a:rPr lang="en-US" sz="2400" b="1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What is inside Earth, and why does it move?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02920" cy="502920"/>
          </a:xfrm>
          <a:prstGeom prst="ellipse">
            <a:avLst/>
          </a:prstGeom>
          <a:solidFill>
            <a:srgbClr val="57534E"/>
          </a:solidFill>
          <a:ln w="12700">
            <a:solidFill>
              <a:srgbClr val="57534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83844" y="419252"/>
            <a:ext cx="432511" cy="432511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74370" y="509778"/>
            <a:ext cx="251460" cy="251460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9750" y="575158"/>
            <a:ext cx="120701" cy="120701"/>
          </a:xfrm>
          <a:prstGeom prst="ellipse">
            <a:avLst/>
          </a:prstGeom>
          <a:solidFill>
            <a:srgbClr val="FDE68A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234440" y="274320"/>
            <a:ext cx="104086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19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Model checklist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008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3 · Lesson 8 · Days 47-48   </a:t>
            </a:r>
            <a:pPr algn="r" indent="0" marL="0">
              <a:buNone/>
            </a:pPr>
            <a:r>
              <a:rPr lang="en-US" sz="1100" u="sng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the lesson webpage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234440"/>
            <a:ext cx="11094415" cy="481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100"/>
              </a:spcAft>
              <a:buNone/>
            </a:pPr>
            <a:r>
              <a:rPr lang="en-US" sz="240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All 4 layers, drawn in the right order, labeled</a:t>
            </a:r>
            <a:endParaRPr lang="en-US" sz="240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240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For each layer: solid or liquid, and what it's made of</a:t>
            </a:r>
            <a:endParaRPr lang="en-US" sz="240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240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Arrows showing heat flowing</a:t>
            </a:r>
            <a:pPr indent="0" marL="0">
              <a:buNone/>
            </a:pPr>
            <a:r>
              <a:rPr lang="en-US" sz="2400" b="1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outward</a:t>
            </a:r>
            <a:pPr indent="0" marL="0">
              <a:buNone/>
            </a:pPr>
            <a:r>
              <a:rPr lang="en-US" sz="240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from the core</a:t>
            </a:r>
            <a:endParaRPr lang="en-US" sz="240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240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The 2 sources of Earth's heat, labeled</a:t>
            </a:r>
            <a:endParaRPr lang="en-US" sz="240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240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At least one</a:t>
            </a:r>
            <a:pPr indent="0" marL="0">
              <a:buNone/>
            </a:pPr>
            <a:r>
              <a:rPr lang="en-US" sz="2400" b="1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convection loop</a:t>
            </a:r>
            <a:pPr indent="0" marL="0">
              <a:buNone/>
            </a:pPr>
            <a:r>
              <a:rPr lang="en-US" sz="240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the mantle (rise, sideways, cool, sink)</a:t>
            </a:r>
            <a:endParaRPr lang="en-US" sz="240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240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One seismic wave path: an S-wave stopping at the outer core, and a P-wave passing through</a:t>
            </a:r>
            <a:endParaRPr lang="en-US" sz="240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240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A short written explanation (3-5 sentences): how we know what's inside Earth, and how heat makes the mantle move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02920" cy="502920"/>
          </a:xfrm>
          <a:prstGeom prst="ellipse">
            <a:avLst/>
          </a:prstGeom>
          <a:solidFill>
            <a:srgbClr val="57534E"/>
          </a:solidFill>
          <a:ln w="12700">
            <a:solidFill>
              <a:srgbClr val="57534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83844" y="419252"/>
            <a:ext cx="432511" cy="432511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74370" y="509778"/>
            <a:ext cx="251460" cy="251460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9750" y="575158"/>
            <a:ext cx="120701" cy="120701"/>
          </a:xfrm>
          <a:prstGeom prst="ellipse">
            <a:avLst/>
          </a:prstGeom>
          <a:solidFill>
            <a:srgbClr val="FDE68A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234440" y="274320"/>
            <a:ext cx="104086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19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Day 48: Peer review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008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3 · Lesson 8 · Days 47-48   </a:t>
            </a:r>
            <a:pPr algn="r" indent="0" marL="0">
              <a:buNone/>
            </a:pPr>
            <a:r>
              <a:rPr lang="en-US" sz="1100" u="sng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the lesson webpage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234440"/>
            <a:ext cx="11094415" cy="2545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100"/>
              </a:spcAft>
              <a:buNone/>
            </a:pPr>
            <a:r>
              <a:rPr lang="en-US" sz="240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models with a partner. Use the checklist. Write on a sticky note:</a:t>
            </a:r>
            <a:endParaRPr lang="en-US" sz="240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2400" b="1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Glow:</a:t>
            </a:r>
            <a:pPr indent="0" marL="0">
              <a:buNone/>
            </a:pPr>
            <a:r>
              <a:rPr lang="en-US" sz="240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One thing your model shows really well is ______.</a:t>
            </a:r>
            <a:endParaRPr lang="en-US" sz="240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2400" b="1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Grow:</a:t>
            </a:r>
            <a:pPr indent="0" marL="0">
              <a:buNone/>
            </a:pPr>
            <a:r>
              <a:rPr lang="en-US" sz="240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Your model would be clearer if you ______.</a:t>
            </a:r>
            <a:endParaRPr lang="en-US" sz="240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240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revise your model using the feedback.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02920" cy="502920"/>
          </a:xfrm>
          <a:prstGeom prst="ellipse">
            <a:avLst/>
          </a:prstGeom>
          <a:solidFill>
            <a:srgbClr val="57534E"/>
          </a:solidFill>
          <a:ln w="12700">
            <a:solidFill>
              <a:srgbClr val="57534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83844" y="419252"/>
            <a:ext cx="432511" cy="432511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74370" y="509778"/>
            <a:ext cx="251460" cy="251460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9750" y="575158"/>
            <a:ext cx="120701" cy="120701"/>
          </a:xfrm>
          <a:prstGeom prst="ellipse">
            <a:avLst/>
          </a:prstGeom>
          <a:solidFill>
            <a:srgbClr val="FDE68A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234440" y="274320"/>
            <a:ext cx="104086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19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 Exit ticket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008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3 · Lesson 8 · Days 47-48   </a:t>
            </a:r>
            <a:pPr algn="r" indent="0" marL="0">
              <a:buNone/>
            </a:pPr>
            <a:r>
              <a:rPr lang="en-US" sz="1100" u="sng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the lesson webpage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1371600"/>
            <a:ext cx="11094415" cy="4480560"/>
          </a:xfrm>
          <a:prstGeom prst="roundRect">
            <a:avLst>
              <a:gd name="adj" fmla="val 3061"/>
            </a:avLst>
          </a:prstGeom>
          <a:solidFill>
            <a:srgbClr val="FEF3E2"/>
          </a:solidFill>
          <a:ln w="12700">
            <a:solidFill>
              <a:srgbClr val="FEF3E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0120" y="1783080"/>
            <a:ext cx="1188720" cy="1188720"/>
          </a:xfrm>
          <a:prstGeom prst="ellipse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60120" y="178308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2514600" y="1783080"/>
            <a:ext cx="8716975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300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one change you made to your model after peer review, and why?</a:t>
            </a:r>
            <a:endParaRPr lang="en-US" sz="3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 3 Lesson 8: Build Your Earth Interior Model</dc:title>
  <dc:subject>PptxGenJS Presentation</dc:subject>
  <dc:creator>PptxGenJS</dc:creator>
  <cp:lastModifiedBy>PptxGenJS</cp:lastModifiedBy>
  <cp:revision>1</cp:revision>
  <dcterms:created xsi:type="dcterms:W3CDTF">2026-10-01T20:16:15Z</dcterms:created>
  <dcterms:modified xsi:type="dcterms:W3CDTF">2026-10-01T20:16:15Z</dcterms:modified>
</cp:coreProperties>
</file>